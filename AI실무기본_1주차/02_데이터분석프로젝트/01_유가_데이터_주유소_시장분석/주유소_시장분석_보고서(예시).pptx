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AZ5GXxz3+w+S5gNrEPZg6Twz2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전국 평균가격 (원/L)</c:v>
                </c:pt>
              </c:strCache>
            </c:strRef>
          </c:tx>
          <c:spPr>
            <a:solidFill>
              <a:srgbClr val="1C2B4A"/>
            </a:solidFill>
            <a:ln w="38100" cap="flat">
              <a:solidFill>
                <a:srgbClr val="1C2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2B4A"/>
              </a:solidFill>
              <a:ln w="9525" cap="flat">
                <a:solidFill>
                  <a:srgbClr val="1C2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1606</c:v>
                </c:pt>
                <c:pt idx="1">
                  <c:v>1527</c:v>
                </c:pt>
                <c:pt idx="2">
                  <c:v>1268</c:v>
                </c:pt>
                <c:pt idx="3">
                  <c:v>1553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2021년 평균가격 (원/L)</c:v>
                </c:pt>
              </c:strCache>
            </c:strRef>
          </c:tx>
          <c:spPr>
            <a:solidFill>
              <a:srgbClr val="B58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83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68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338E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86F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알뜰(ex)</c:v>
                  </c:pt>
                  <c:pt idx="1">
                    <c:v>알뜰주유소</c:v>
                  </c:pt>
                  <c:pt idx="2">
                    <c:v>NH-OIL</c:v>
                  </c:pt>
                  <c:pt idx="3">
                    <c:v>S-OIL</c:v>
                  </c:pt>
                  <c:pt idx="4">
                    <c:v>현대오일뱅크</c:v>
                  </c:pt>
                  <c:pt idx="5">
                    <c:v>GS칼텍스</c:v>
                  </c:pt>
                  <c:pt idx="6">
                    <c:v>SK에너지</c:v>
                  </c:pt>
                  <c:pt idx="7">
                    <c:v>자가상표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1498</c:v>
                </c:pt>
                <c:pt idx="1">
                  <c:v>1512</c:v>
                </c:pt>
                <c:pt idx="2">
                  <c:v>1535</c:v>
                </c:pt>
                <c:pt idx="3">
                  <c:v>1548</c:v>
                </c:pt>
                <c:pt idx="4">
                  <c:v>1556</c:v>
                </c:pt>
                <c:pt idx="5">
                  <c:v>1561</c:v>
                </c:pt>
                <c:pt idx="6">
                  <c:v>1568</c:v>
                </c:pt>
                <c:pt idx="7">
                  <c:v>1582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4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셀프</c:v>
                </c:pt>
              </c:strCache>
            </c:strRef>
          </c:tx>
          <c:spPr>
            <a:solidFill>
              <a:srgbClr val="457B9D"/>
            </a:solidFill>
            <a:ln w="31750" cap="flat">
              <a:solidFill>
                <a:srgbClr val="457B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1595</c:v>
                </c:pt>
                <c:pt idx="1">
                  <c:v>1519</c:v>
                </c:pt>
                <c:pt idx="2">
                  <c:v>1264</c:v>
                </c:pt>
                <c:pt idx="3">
                  <c:v>1541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1618</c:v>
                </c:pt>
                <c:pt idx="1">
                  <c:v>1546</c:v>
                </c:pt>
                <c:pt idx="2">
                  <c:v>1297</c:v>
                </c:pt>
                <c:pt idx="3">
                  <c:v>1571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2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2021년 평균가격 (원/L)</c:v>
                </c:pt>
              </c:strCache>
            </c:strRef>
          </c:tx>
          <c:spPr>
            <a:solidFill>
              <a:srgbClr val="3A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대구</c:v>
                  </c:pt>
                  <c:pt idx="1">
                    <c:v>경남</c:v>
                  </c:pt>
                  <c:pt idx="2">
                    <c:v>경북</c:v>
                  </c:pt>
                  <c:pt idx="3">
                    <c:v>부산</c:v>
                  </c:pt>
                  <c:pt idx="4">
                    <c:v>울산</c:v>
                  </c:pt>
                  <c:pt idx="5">
                    <c:v>광주</c:v>
                  </c:pt>
                  <c:pt idx="6">
                    <c:v>전북</c:v>
                  </c:pt>
                  <c:pt idx="7">
                    <c:v>전남</c:v>
                  </c:pt>
                  <c:pt idx="8">
                    <c:v>경남</c:v>
                  </c:pt>
                  <c:pt idx="9">
                    <c:v>인천</c:v>
                  </c:pt>
                  <c:pt idx="10">
                    <c:v>충남</c:v>
                  </c:pt>
                  <c:pt idx="11">
                    <c:v>충북</c:v>
                  </c:pt>
                  <c:pt idx="12">
                    <c:v>세종</c:v>
                  </c:pt>
                  <c:pt idx="13">
                    <c:v>대전</c:v>
                  </c:pt>
                  <c:pt idx="14">
                    <c:v>강원</c:v>
                  </c:pt>
                  <c:pt idx="15">
                    <c:v>경기</c:v>
                  </c:pt>
                  <c:pt idx="16">
                    <c:v>제주</c:v>
                  </c:pt>
                  <c:pt idx="17">
                    <c:v>서울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1528</c:v>
                </c:pt>
                <c:pt idx="1">
                  <c:v>1543</c:v>
                </c:pt>
                <c:pt idx="2">
                  <c:v>1541</c:v>
                </c:pt>
                <c:pt idx="3">
                  <c:v>1542</c:v>
                </c:pt>
                <c:pt idx="4">
                  <c:v>1537</c:v>
                </c:pt>
                <c:pt idx="5">
                  <c:v>1548</c:v>
                </c:pt>
                <c:pt idx="6">
                  <c:v>1553</c:v>
                </c:pt>
                <c:pt idx="7">
                  <c:v>1553</c:v>
                </c:pt>
                <c:pt idx="8">
                  <c:v>1543</c:v>
                </c:pt>
                <c:pt idx="9">
                  <c:v>1559</c:v>
                </c:pt>
                <c:pt idx="10">
                  <c:v>1564</c:v>
                </c:pt>
                <c:pt idx="11">
                  <c:v>1563</c:v>
                </c:pt>
                <c:pt idx="12">
                  <c:v>1562</c:v>
                </c:pt>
                <c:pt idx="13">
                  <c:v>1560</c:v>
                </c:pt>
                <c:pt idx="14">
                  <c:v>1565</c:v>
                </c:pt>
                <c:pt idx="15">
                  <c:v>1564</c:v>
                </c:pt>
                <c:pt idx="16">
                  <c:v>1592</c:v>
                </c:pt>
                <c:pt idx="17">
                  <c:v>1641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5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E4272"/>
          </a:solidFill>
          <a:ln cap="flat" cmpd="sng" w="12700">
            <a:solidFill>
              <a:srgbClr val="2E4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3200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4C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4C8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00584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한국 주유소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시장 구조 분석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71800"/>
            <a:ext cx="457200" cy="5486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31089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A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AE0"/>
                </a:solidFill>
                <a:latin typeface="Calibri"/>
                <a:ea typeface="Calibri"/>
                <a:cs typeface="Calibri"/>
                <a:sym typeface="Calibri"/>
              </a:rPr>
              <a:t>2018–2021년 가격·브랜드·지역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A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AE0"/>
                </a:solidFill>
                <a:latin typeface="Calibri"/>
                <a:ea typeface="Calibri"/>
                <a:cs typeface="Calibri"/>
                <a:sym typeface="Calibri"/>
              </a:rPr>
              <a:t>구조 분석 보고서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663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3B8"/>
                </a:solidFill>
                <a:latin typeface="Calibri"/>
                <a:ea typeface="Calibri"/>
                <a:cs typeface="Calibri"/>
                <a:sym typeface="Calibri"/>
              </a:rPr>
              <a:t>June 2024  |  Strategy &amp;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297680" y="1097280"/>
            <a:ext cx="4480560" cy="960120"/>
          </a:xfrm>
          <a:prstGeom prst="roundRect">
            <a:avLst>
              <a:gd fmla="val 7619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0" y="117043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320,539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0" y="16459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분석 원시 데이터 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297680" y="2286000"/>
            <a:ext cx="4480560" cy="960120"/>
          </a:xfrm>
          <a:prstGeom prst="roundRect">
            <a:avLst>
              <a:gd fmla="val 7619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0" y="235915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45,809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0" y="28346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주유소-연도 단위 분석 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297680" y="3474720"/>
            <a:ext cx="4480560" cy="960120"/>
          </a:xfrm>
          <a:prstGeom prst="roundRect">
            <a:avLst>
              <a:gd fmla="val 7619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572000" y="354787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17개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0" y="40233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시도 × 4개년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목차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7498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1234440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58368" y="1344168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58368" y="134416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34440" y="1325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분석 배경 및 SCQA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161848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Situation · Complication · Question ·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2130552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58368" y="2240280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58368" y="224028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34440" y="22219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연도별 가격 동향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4440" y="25146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2018–2021 전국 평균가격 추이 및 분포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026664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58368" y="3136392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58368" y="313639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34440" y="31181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브랜드 가격 경쟁력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34440" y="3410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ANOVA 검정 · 점유율 변화 · 가격 분포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3922776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58368" y="4032504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8368" y="4032504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34440" y="40142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셀프 vs 일반 가격 격차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234440" y="43068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t-검정 · Cohen's d · 소비자 절감 효과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37760" y="1234440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047488" y="1344168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047488" y="134416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623560" y="1325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지역별 가격 불균등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623560" y="161848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시도별 분포 · 서울·제주 프리미엄 구조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37760" y="2130552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047488" y="2240280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047488" y="224028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623560" y="22219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시도별 브랜드 세력권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623560" y="25146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Folium 지도 시각화 · 클릭 팝업 순위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37760" y="3026664"/>
            <a:ext cx="40233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047488" y="3136392"/>
            <a:ext cx="457200" cy="530352"/>
          </a:xfrm>
          <a:prstGeom prst="roundRect">
            <a:avLst>
              <a:gd fmla="val 10000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5047488" y="3136392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623560" y="31181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전략적 시사점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623560" y="3410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소비자 · 정유사 · 정책 입안자 관점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분석 배경 및 SCQA 프레임워크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1051560"/>
            <a:ext cx="1965960" cy="3566160"/>
          </a:xfrm>
          <a:prstGeom prst="roundRect">
            <a:avLst>
              <a:gd fmla="val 465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005840" y="1207008"/>
            <a:ext cx="658368" cy="658368"/>
          </a:xfrm>
          <a:prstGeom prst="ellipse">
            <a:avLst/>
          </a:prstGeom>
          <a:solidFill>
            <a:srgbClr val="3A5A8C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05840" y="12070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19933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Situation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02920" y="2377440"/>
            <a:ext cx="1691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전국 10,000개+ 주유소에서 매일 가격 데이터가 수집된다.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소비자와 사업자 모두 이 데이터에 민감하다.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468880" y="1051560"/>
            <a:ext cx="1965960" cy="3566160"/>
          </a:xfrm>
          <a:prstGeom prst="roundRect">
            <a:avLst>
              <a:gd fmla="val 465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108960" y="1207008"/>
            <a:ext cx="658368" cy="658368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108960" y="12070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560320" y="19933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Complication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606040" y="2377440"/>
            <a:ext cx="1691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2020년 코로나19 충격으로 유가가 사상 최저를 기록했고,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브랜드·지역·셀프 여부에 따라 수백 원씩 차이난다.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0" y="1051560"/>
            <a:ext cx="1965960" cy="3566160"/>
          </a:xfrm>
          <a:prstGeom prst="roundRect">
            <a:avLst>
              <a:gd fmla="val 465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212080" y="1207008"/>
            <a:ext cx="658368" cy="658368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212080" y="12070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663440" y="19933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09160" y="2377440"/>
            <a:ext cx="1691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2018–2021년 주유소 시장에서 가격은 어떻게 변동했고,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브랜드·셀프·지역 간 가격 차이는 얼마나 구조적인가?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675120" y="1051560"/>
            <a:ext cx="1965960" cy="3566160"/>
          </a:xfrm>
          <a:prstGeom prst="roundRect">
            <a:avLst>
              <a:gd fmla="val 465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315200" y="1207008"/>
            <a:ext cx="658368" cy="658368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315200" y="12070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766560" y="19933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12280" y="2377440"/>
            <a:ext cx="1691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2020년 코로나 저점 이후 전반적 반등, 서울·제주 지속 프리미엄,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알뜰주유소 일관 저가, 셀프 할인 약 28원/L 안정적 유지.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바바라 민토 SCQA 원칙 적용 — 청중이 자연스럽게 분석의 필요성을 납득하도록 유도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연도별 전국 평균 휘발유 가격 동향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4"/>
          <p:cNvGraphicFramePr/>
          <p:nvPr/>
        </p:nvGraphicFramePr>
        <p:xfrm>
          <a:off x="457200" y="1005840"/>
          <a:ext cx="530352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1" name="Google Shape;111;p4"/>
          <p:cNvSpPr/>
          <p:nvPr/>
        </p:nvSpPr>
        <p:spPr>
          <a:xfrm>
            <a:off x="6035040" y="1051560"/>
            <a:ext cx="2834640" cy="1078992"/>
          </a:xfrm>
          <a:prstGeom prst="roundRect">
            <a:avLst>
              <a:gd fmla="val 6780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172200" y="1307592"/>
            <a:ext cx="457200" cy="45720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172200" y="1307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720840" y="1143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2020년 역대 최저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720840" y="143560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전국 평균 1,268원/L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코로나19 수요 충격으로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4개년 중 최저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035040" y="2286000"/>
            <a:ext cx="2834640" cy="1078992"/>
          </a:xfrm>
          <a:prstGeom prst="roundRect">
            <a:avLst>
              <a:gd fmla="val 6780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172200" y="2542032"/>
            <a:ext cx="457200" cy="45720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172200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720840" y="2377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2021년 반등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720840" y="267004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1,553원/L으로 회복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공급 회복 + 경기 반등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전년 대비 +285원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035040" y="3520440"/>
            <a:ext cx="2834640" cy="1078992"/>
          </a:xfrm>
          <a:prstGeom prst="roundRect">
            <a:avLst>
              <a:gd fmla="val 6780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172200" y="3776472"/>
            <a:ext cx="457200" cy="4572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172200" y="3776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720840" y="3611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구조적 분산 유지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720840" y="390448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저유가 시기에도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지역·브랜드별 격차는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구조적으로 지속됨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브랜드 가격 경쟁력 및 시장 점유율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5"/>
          <p:cNvGraphicFramePr/>
          <p:nvPr/>
        </p:nvGraphicFramePr>
        <p:xfrm>
          <a:off x="457200" y="1005840"/>
          <a:ext cx="502920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5" name="Google Shape;135;p5"/>
          <p:cNvSpPr/>
          <p:nvPr/>
        </p:nvSpPr>
        <p:spPr>
          <a:xfrm>
            <a:off x="5760720" y="1005840"/>
            <a:ext cx="3108960" cy="1417320"/>
          </a:xfrm>
          <a:prstGeom prst="roundRect">
            <a:avLst>
              <a:gd fmla="val 5161" name="adj"/>
            </a:avLst>
          </a:prstGeom>
          <a:solidFill>
            <a:srgbClr val="2E4272"/>
          </a:solidFill>
          <a:ln cap="flat" cmpd="sng" w="12700">
            <a:solidFill>
              <a:srgbClr val="2E42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943600" y="10789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ANOVA 검정 결과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943600" y="1417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F-통계량 &gt; 100  →  브랜드 간 가격 차이 유의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943600" y="16916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η² ≈ 0.10  →  브랜드 요인이 분산의 10%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943600" y="1965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D4F0"/>
                </a:solidFill>
                <a:latin typeface="Calibri"/>
                <a:ea typeface="Calibri"/>
                <a:cs typeface="Calibri"/>
                <a:sym typeface="Calibri"/>
              </a:rPr>
              <a:t>p &lt; 0.001  →  통계적으로 매우 유의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760720" y="2606040"/>
            <a:ext cx="3108960" cy="594360"/>
          </a:xfrm>
          <a:prstGeom prst="roundRect">
            <a:avLst>
              <a:gd fmla="val 923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760720" y="2606040"/>
            <a:ext cx="228600" cy="5943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080760" y="266090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SK에너지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080760" y="290779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31.7%  →  27.2%  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772400" y="266090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2018        2021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760720" y="3319272"/>
            <a:ext cx="3108960" cy="594360"/>
          </a:xfrm>
          <a:prstGeom prst="roundRect">
            <a:avLst>
              <a:gd fmla="val 923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760720" y="3319272"/>
            <a:ext cx="228600" cy="59436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080760" y="337413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현대오일뱅크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080760" y="362102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20.1%  →  21.9%  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772400" y="337413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2018        2021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60720" y="4032504"/>
            <a:ext cx="3108960" cy="594360"/>
          </a:xfrm>
          <a:prstGeom prst="roundRect">
            <a:avLst>
              <a:gd fmla="val 9231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760720" y="4032504"/>
            <a:ext cx="228600" cy="594360"/>
          </a:xfrm>
          <a:prstGeom prst="rect">
            <a:avLst/>
          </a:prstGeom>
          <a:solidFill>
            <a:srgbClr val="6D6875"/>
          </a:solidFill>
          <a:ln cap="flat" cmpd="sng" w="12700">
            <a:solidFill>
              <a:srgbClr val="6D68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080760" y="408736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알뜰계열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080760" y="433425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5.2%  →  5.5%  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772400" y="408736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2018        2021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셀프 vs 일반 주유소 가격 격차 분석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" y="1024128"/>
            <a:ext cx="2651760" cy="1188720"/>
          </a:xfrm>
          <a:prstGeom prst="roundRect">
            <a:avLst>
              <a:gd fmla="val 7692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94360" y="1115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–28원/L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16276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4개년 평균 셀프 할인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18562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4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FA4C8"/>
                </a:solidFill>
                <a:latin typeface="Calibri"/>
                <a:ea typeface="Calibri"/>
                <a:cs typeface="Calibri"/>
                <a:sym typeface="Calibri"/>
              </a:rPr>
              <a:t>4년 내내 방향 역전 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291840" y="1024128"/>
            <a:ext cx="2651760" cy="1188720"/>
          </a:xfrm>
          <a:prstGeom prst="roundRect">
            <a:avLst>
              <a:gd fmla="val 7692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429000" y="1115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≈0.2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383280" y="16276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Cohen's d 효과 크기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383280" y="18562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4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FA4C8"/>
                </a:solidFill>
                <a:latin typeface="Calibri"/>
                <a:ea typeface="Calibri"/>
                <a:cs typeface="Calibri"/>
                <a:sym typeface="Calibri"/>
              </a:rPr>
              <a:t>소 효과, 통계적으로 유의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126480" y="1024128"/>
            <a:ext cx="2651760" cy="1188720"/>
          </a:xfrm>
          <a:prstGeom prst="roundRect">
            <a:avLst>
              <a:gd fmla="val 7692" name="adj"/>
            </a:avLst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263640" y="11155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~20,000원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17920" y="16276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연간 절감 추정액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217920" y="18562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4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FA4C8"/>
                </a:solidFill>
                <a:latin typeface="Calibri"/>
                <a:ea typeface="Calibri"/>
                <a:cs typeface="Calibri"/>
                <a:sym typeface="Calibri"/>
              </a:rPr>
              <a:t>720L/년 기준 소비자 절감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6"/>
          <p:cNvGraphicFramePr/>
          <p:nvPr/>
        </p:nvGraphicFramePr>
        <p:xfrm>
          <a:off x="457200" y="2377440"/>
          <a:ext cx="5303520" cy="2468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6" name="Google Shape;176;p6"/>
          <p:cNvSpPr/>
          <p:nvPr/>
        </p:nvSpPr>
        <p:spPr>
          <a:xfrm>
            <a:off x="5943600" y="2377440"/>
            <a:ext cx="2926080" cy="2468880"/>
          </a:xfrm>
          <a:prstGeom prst="roundRect">
            <a:avLst>
              <a:gd fmla="val 2963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126480" y="24871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주요 해석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126480" y="2834640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모든 연도에서 셀프(파랑)가 일반(빨강) 아래 — 방향 역전 없음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2020년 저유가 시기에 격차가 34원으로 가장 큼 — 일반이 더 천천히 낮춤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Cohen's d ≈ 0.2는 소 효과이지만 연간 실질 절감은 약 20,000원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통계적 유의성(p값)과 실용적 유의성(효과 크기)을 함께 해석해야 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지역별 가격 불균등 구조 분석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7"/>
          <p:cNvGraphicFramePr/>
          <p:nvPr/>
        </p:nvGraphicFramePr>
        <p:xfrm>
          <a:off x="457200" y="1005840"/>
          <a:ext cx="5303520" cy="37490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88" name="Google Shape;188;p7"/>
          <p:cNvSpPr/>
          <p:nvPr/>
        </p:nvSpPr>
        <p:spPr>
          <a:xfrm>
            <a:off x="5943600" y="1005840"/>
            <a:ext cx="2926080" cy="1417320"/>
          </a:xfrm>
          <a:prstGeom prst="roundRect">
            <a:avLst>
              <a:gd fmla="val 5161" name="adj"/>
            </a:avLst>
          </a:prstGeom>
          <a:solidFill>
            <a:srgbClr val="FEF3E2"/>
          </a:solidFill>
          <a:ln cap="flat" cmpd="sng" w="12700">
            <a:solidFill>
              <a:srgbClr val="F6C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126480" y="10789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지속적 가격 프리미엄 지역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126480" y="13898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서울: 전국 평균 대비 +77원/L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126480" y="163677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제주: 전국 평균 대비 +38원/L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126480" y="188366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저유가 시기에도 프리미엄 구조 유지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126480" y="213055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임대료·운영 비용 구조 반영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943600" y="2560320"/>
            <a:ext cx="2926080" cy="1325880"/>
          </a:xfrm>
          <a:prstGeom prst="roundRect">
            <a:avLst>
              <a:gd fmla="val 5517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126480" y="26334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분산 분해 (Variance Decomposition)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126480" y="294436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지역 간 분산 설명력 η² ≈ 0.15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6480" y="32004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지역 요인이 전체 분산의 15%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6480" y="34564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지역 내 분산도 존재 → 입지·경쟁 요인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943600" y="3977640"/>
            <a:ext cx="2926080" cy="685800"/>
          </a:xfrm>
          <a:prstGeom prst="roundRect">
            <a:avLst>
              <a:gd fmla="val 10667" name="adj"/>
            </a:avLst>
          </a:prstGeom>
          <a:solidFill>
            <a:srgbClr val="D6E4F0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080760" y="40690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지역 격차는 유가 수준과 무관하게 구조적·지속적으로 유지된다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시도별 1등 브랜드 세력권 — Folium 지도 시각화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1051560"/>
            <a:ext cx="4114800" cy="3749040"/>
          </a:xfrm>
          <a:prstGeom prst="roundRect">
            <a:avLst>
              <a:gd fmla="val 2439" name="adj"/>
            </a:avLst>
          </a:prstGeom>
          <a:solidFill>
            <a:srgbClr val="F4F6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지도 시각화 구성 요소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85800" y="1645920"/>
            <a:ext cx="347472" cy="347472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85800" y="16459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70432" y="163677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Choropleth 레이어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70432" y="18745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시도 면적을 1등 브랜드 고유 색상으로 채움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브랜드 세력권 한눈에 파악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85800" y="2423160"/>
            <a:ext cx="347472" cy="347472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685800" y="2423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170432" y="241401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원형 마커 + 약칭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70432" y="265176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시도 중심에 브랜드 약칭(SK·GS·HD)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면적 작은 시도(서울·광주) 보완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85800" y="3200400"/>
            <a:ext cx="347472" cy="347472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85800" y="3200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70432" y="319125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클릭 팝업 순위표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170432" y="34290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시도 클릭 시 전체 브랜드 순위 + 점유율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가로 막대 바로 시각화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5800" y="3977640"/>
            <a:ext cx="347472" cy="347472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85800" y="39776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70432" y="396849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연도 선택 패널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70432" y="420624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2018–2021년 전환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기본값 2021년, LayerControl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846320" y="1051560"/>
            <a:ext cx="402336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029200" y="11704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2021년 시도별 1등 브랜드 (주요 지역)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983480" y="1572768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102352" y="1627632"/>
            <a:ext cx="219456" cy="21945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394960" y="162763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서울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080760" y="162763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SK에너지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772400" y="1627632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32.1%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983480" y="1975104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102352" y="2029968"/>
            <a:ext cx="219456" cy="21945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394960" y="202996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경기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080760" y="202996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SK에너지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772400" y="202996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29.8%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83480" y="2377440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102352" y="2432304"/>
            <a:ext cx="219456" cy="219456"/>
          </a:xfrm>
          <a:prstGeom prst="ellipse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394960" y="24323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부산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080760" y="24323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GS칼텍스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772400" y="243230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57B9D"/>
                </a:solidFill>
                <a:latin typeface="Calibri"/>
                <a:ea typeface="Calibri"/>
                <a:cs typeface="Calibri"/>
                <a:sym typeface="Calibri"/>
              </a:rPr>
              <a:t>27.4%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983480" y="2779776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102352" y="2834640"/>
            <a:ext cx="219456" cy="219456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394960" y="2834640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대구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080760" y="283464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현대오일뱅크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772400" y="283464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30.2%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983480" y="3182112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102352" y="3236976"/>
            <a:ext cx="219456" cy="21945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394960" y="323697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인천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080760" y="323697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SK에너지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772400" y="3236976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28.5%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983480" y="3584448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102352" y="3639312"/>
            <a:ext cx="219456" cy="219456"/>
          </a:xfrm>
          <a:prstGeom prst="ellipse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394960" y="363931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강원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080760" y="363931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GS칼텍스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772400" y="3639312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57B9D"/>
                </a:solidFill>
                <a:latin typeface="Calibri"/>
                <a:ea typeface="Calibri"/>
                <a:cs typeface="Calibri"/>
                <a:sym typeface="Calibri"/>
              </a:rPr>
              <a:t>26.9%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983480" y="3986784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102352" y="4041648"/>
            <a:ext cx="219456" cy="219456"/>
          </a:xfrm>
          <a:prstGeom prst="ellipse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394960" y="4041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경남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080760" y="404164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GS칼텍스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772400" y="404164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57B9D"/>
                </a:solidFill>
                <a:latin typeface="Calibri"/>
                <a:ea typeface="Calibri"/>
                <a:cs typeface="Calibri"/>
                <a:sym typeface="Calibri"/>
              </a:rPr>
              <a:t>28.1%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983480" y="4389120"/>
            <a:ext cx="374904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102352" y="4443984"/>
            <a:ext cx="219456" cy="219456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5394960" y="444398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제주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080760" y="444398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SK에너지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772400" y="44439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31.0%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전략적 시사점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229600" y="2011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7AA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A7AA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65760" y="1051560"/>
            <a:ext cx="41148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48640" y="1216152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548640" y="1216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170432" y="12527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소비자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48640" y="1801368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셀프 이용으로 연간 약 20,000원 절감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알뜰주유소 선택 시 추가 절감 (브랜드 격차 약 50–80원/L)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서울·제주 거주자는 구조적 고가 환경 — 셀프 이용 더욱 중요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754880" y="1051560"/>
            <a:ext cx="41148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937760" y="1216152"/>
            <a:ext cx="502920" cy="50292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937760" y="1216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559552" y="12527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정유사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937760" y="1801368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SK에너지 점유율 4년간 지속 하락 — 브랜드 가치·로열티 전략 재검토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알뜰계열 확대에 대응한 프리미엄 서비스 차별화 전략 요구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현대오일뱅크 소폭 상승 — 가격 경쟁력 + 네트워크 확장 효과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65760" y="3063240"/>
            <a:ext cx="41148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548640" y="3227832"/>
            <a:ext cx="502920" cy="502920"/>
          </a:xfrm>
          <a:prstGeom prst="ellipse">
            <a:avLst/>
          </a:prstGeom>
          <a:solidFill>
            <a:srgbClr val="1C2B4A"/>
          </a:solidFill>
          <a:ln cap="flat" cmpd="sng" w="12700">
            <a:solidFill>
              <a:srgbClr val="1C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170432" y="32644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정책 입안자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48640" y="3813048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서울·제주 가격 프리미엄은 단순 규제보다 경쟁 구조 개선으로 접근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알뜰주유소 확대 정책이 실질적 소비자 가격 인하에 기여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지역별 가격 격차 모니터링 — 구조적 불균등 심화 여부 추적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754880" y="3063240"/>
            <a:ext cx="41148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937760" y="3227832"/>
            <a:ext cx="502920" cy="502920"/>
          </a:xfrm>
          <a:prstGeom prst="ellipse">
            <a:avLst/>
          </a:prstGeom>
          <a:solidFill>
            <a:srgbClr val="3A5A8C"/>
          </a:solidFill>
          <a:ln cap="flat" cmpd="sng" w="12700">
            <a:solidFill>
              <a:srgbClr val="3A5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937760" y="3227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559552" y="32644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5A8C"/>
                </a:solidFill>
                <a:latin typeface="Calibri"/>
                <a:ea typeface="Calibri"/>
                <a:cs typeface="Calibri"/>
                <a:sym typeface="Calibri"/>
              </a:rPr>
              <a:t>창업자 / 투자자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937760" y="3813048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알뜰계열 가맹 전략 vs 고마진 지역(서울) 입점 전략 양극화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셀프 비중 지속 확대 추세 — 신규 주유소는 셀프 방식 우선 고려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지역별 브랜드 세력권 분석으로 공백 시장 입점 기회 탐색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결론 및 핵심 메시지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48640" y="74980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피라미드 원리 기반 — 핵심 주장 → 근거 3개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fmla="val 8421" name="adj"/>
            </a:avLst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822960" y="1417320"/>
            <a:ext cx="7498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한국 주유소 휘발유 가격은 2020년 코로나 저점을 경유하며 반등했으며,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브랜드·셀프 여부·거주 지역에 따른 가격 불균등은 구조적·지속적으로 유지된다.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48640" y="2395728"/>
            <a:ext cx="2651760" cy="2377440"/>
          </a:xfrm>
          <a:prstGeom prst="roundRect">
            <a:avLst>
              <a:gd fmla="val 3846" name="adj"/>
            </a:avLst>
          </a:prstGeom>
          <a:solidFill>
            <a:srgbClr val="2E4272"/>
          </a:solidFill>
          <a:ln cap="flat" cmpd="sng" w="12700">
            <a:solidFill>
              <a:srgbClr val="3D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731520" y="25146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연도별 가격 동향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31520" y="33375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2020년 코로나 충격 저점(1,268원)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→ 2021년 반등(1,553원)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표준편차도 동반 축소·확대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383280" y="2395728"/>
            <a:ext cx="2651760" cy="2377440"/>
          </a:xfrm>
          <a:prstGeom prst="roundRect">
            <a:avLst>
              <a:gd fmla="val 3846" name="adj"/>
            </a:avLst>
          </a:prstGeom>
          <a:solidFill>
            <a:srgbClr val="2E4272"/>
          </a:solidFill>
          <a:ln cap="flat" cmpd="sng" w="12700">
            <a:solidFill>
              <a:srgbClr val="3D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566160" y="25146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566160" y="2971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브랜드·셀프 구조적 격차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566160" y="33375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ANOVA η²=0.10 — 브랜드 10%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셀프 할인 28원/L 4년간 안정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SK 점유율 하락, 알뜰계열 상승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217920" y="2395728"/>
            <a:ext cx="2651760" cy="2377440"/>
          </a:xfrm>
          <a:prstGeom prst="roundRect">
            <a:avLst>
              <a:gd fmla="val 3846" name="adj"/>
            </a:avLst>
          </a:prstGeom>
          <a:solidFill>
            <a:srgbClr val="2E4272"/>
          </a:solidFill>
          <a:ln cap="flat" cmpd="sng" w="12700">
            <a:solidFill>
              <a:srgbClr val="3D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6400800" y="251460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지역별 불균등 구조화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400800" y="33375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지역 η²=0.15 — 지역 15%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서울+77원, 제주+38원 프리미엄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BD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DD6"/>
                </a:solidFill>
                <a:latin typeface="Calibri"/>
                <a:ea typeface="Calibri"/>
                <a:cs typeface="Calibri"/>
                <a:sym typeface="Calibri"/>
              </a:rPr>
              <a:t>저유가 시기에도 격차 유지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데이터 출처: 한국석유공사 Opinet / 분석 기간: 2018–2021년 6월 1일–7일 / 분석 단위: 주유소×연도 45,809건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2026-06-23T02:38:06Z</dcterms:created>
  <dc:creator>PptxGenJS</dc:creator>
</cp:coreProperties>
</file>