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3D413E08-6C14-4CC6-983C-5C12EF8474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presProps" Target="presProps.xml"  /><Relationship Id="rId31" Type="http://schemas.openxmlformats.org/officeDocument/2006/relationships/viewProps" Target="viewProps.xml"  /><Relationship Id="rId32" Type="http://schemas.openxmlformats.org/officeDocument/2006/relationships/theme" Target="theme/theme1.xml"  /><Relationship Id="rId33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1f34e9b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1f34e9b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81f34e9b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hyperlink" Target="http://www.youtube.com/watch?v=ETkhmDY2Fz0" TargetMode="External" /><Relationship Id="rId4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1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1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81f34e9b1_0_0" title="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533" y="0"/>
            <a:ext cx="12310534" cy="692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182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0241280" y="3566160"/>
            <a:ext cx="4206240" cy="4206240"/>
          </a:xfrm>
          <a:prstGeom prst="ellipse">
            <a:avLst/>
          </a:prstGeom>
          <a:solidFill>
            <a:srgbClr val="1424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777240" y="786384"/>
            <a:ext cx="310896" cy="310896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197864" y="845755"/>
            <a:ext cx="4572000" cy="210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YEARDREAM · TEAM 4 미니 프로젝트</a:t>
            </a:r>
            <a:endParaRPr b="1" i="0" sz="13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77240" y="214884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내일은행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777240" y="34015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Tomorrow Bank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77240" y="4160520"/>
            <a:ext cx="10241280" cy="283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9D1DC"/>
                </a:solidFill>
                <a:latin typeface="Arial"/>
                <a:ea typeface="Arial"/>
                <a:cs typeface="Arial"/>
                <a:sym typeface="Arial"/>
              </a:rPr>
              <a:t>수업 종료 후 30초 시간문진으로 학생 상태를 매일 수집·분류하는 ㈜ 엘리스 맞춤학생관리 시스템</a:t>
            </a:r>
            <a:endParaRPr b="0" i="0" sz="1550" u="none" cap="none" strike="noStrike">
              <a:solidFill>
                <a:srgbClr val="C9D1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77240" y="4617720"/>
            <a:ext cx="4223913" cy="21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학생용 «회복신용도»</a:t>
            </a:r>
            <a:r>
              <a:rPr b="0" i="0" lang="en-US" sz="13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   ·   </a:t>
            </a:r>
            <a:r>
              <a:rPr b="1" i="0" lang="en-US" sz="135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관리자용 «관심학생 우선순위»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777240" y="5349240"/>
            <a:ext cx="4754880" cy="932688"/>
          </a:xfrm>
          <a:prstGeom prst="roundRect">
            <a:avLst>
              <a:gd fmla="val 23529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143000" y="5349240"/>
            <a:ext cx="40233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6E6FF"/>
                </a:solidFill>
                <a:latin typeface="Arial"/>
                <a:ea typeface="Arial"/>
                <a:cs typeface="Arial"/>
                <a:sym typeface="Arial"/>
              </a:rPr>
              <a:t>Kaggle Public Balanced Accuracy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0.95083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8351215" y="5806440"/>
            <a:ext cx="3200400" cy="212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2026. 07. 15   |   TEAM 4</a:t>
            </a:r>
            <a:endParaRPr b="1" i="0" sz="13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777240" y="1572768"/>
            <a:ext cx="10634472" cy="576072"/>
          </a:xfrm>
          <a:prstGeom prst="roundRect">
            <a:avLst>
              <a:gd fmla="val 2380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978408" y="1691640"/>
            <a:ext cx="896112" cy="338328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057400" y="1572768"/>
            <a:ext cx="4754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내일은행의 컨셉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5257800" y="1572768"/>
            <a:ext cx="59710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서비스 정의 · 인터페이스 · 캐글 대회/데이터 정의서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777240" y="2244852"/>
            <a:ext cx="10634472" cy="576072"/>
          </a:xfrm>
          <a:prstGeom prst="roundRect">
            <a:avLst>
              <a:gd fmla="val 2380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978408" y="2363724"/>
            <a:ext cx="896112" cy="338328"/>
          </a:xfrm>
          <a:prstGeom prst="roundRect">
            <a:avLst>
              <a:gd fmla="val 50000" name="adj"/>
            </a:avLst>
          </a:prstGeom>
          <a:solidFill>
            <a:srgbClr val="15C47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2057400" y="2244852"/>
            <a:ext cx="4754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SCQA &amp; 문제정의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5257800" y="2244852"/>
            <a:ext cx="59710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왜 매일 수집인가 · 왜 머신러닝인가 · 프로젝트 과정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777240" y="2916936"/>
            <a:ext cx="10634472" cy="576072"/>
          </a:xfrm>
          <a:prstGeom prst="roundRect">
            <a:avLst>
              <a:gd fmla="val 2380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78408" y="3035808"/>
            <a:ext cx="896112" cy="338328"/>
          </a:xfrm>
          <a:prstGeom prst="roundRect">
            <a:avLst>
              <a:gd fmla="val 50000" name="adj"/>
            </a:avLst>
          </a:prstGeom>
          <a:solidFill>
            <a:srgbClr val="FF9500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2057400" y="2916936"/>
            <a:ext cx="4754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근거 피라미드 → 결론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5257800" y="2916936"/>
            <a:ext cx="59710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세 개의 근거 · V6 근거 4층위 · 최종 성과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777240" y="3589020"/>
            <a:ext cx="10634472" cy="576072"/>
          </a:xfrm>
          <a:prstGeom prst="roundRect">
            <a:avLst>
              <a:gd fmla="val 2380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78408" y="3707891"/>
            <a:ext cx="896112" cy="338328"/>
          </a:xfrm>
          <a:prstGeom prst="roundRect">
            <a:avLst>
              <a:gd fmla="val 50000" name="adj"/>
            </a:avLst>
          </a:prstGeom>
          <a:solidFill>
            <a:srgbClr val="F04452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2057400" y="3589020"/>
            <a:ext cx="4754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머신러닝 수행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5257800" y="3589020"/>
            <a:ext cx="59710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EDA·통계검정 · 12종 비교 · V6 스태킹 · 최종성과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777240" y="4261104"/>
            <a:ext cx="10634472" cy="576072"/>
          </a:xfrm>
          <a:prstGeom prst="roundRect">
            <a:avLst>
              <a:gd fmla="val 2380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978408" y="4379976"/>
            <a:ext cx="896112" cy="338328"/>
          </a:xfrm>
          <a:prstGeom prst="roundRect">
            <a:avLst>
              <a:gd fmla="val 50000" name="adj"/>
            </a:avLst>
          </a:prstGeom>
          <a:solidFill>
            <a:srgbClr val="15C47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서비스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2057400" y="4261104"/>
            <a:ext cx="4754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서비스 로직 · 기대효과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5257800" y="4261104"/>
            <a:ext cx="59710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1~9등급 번역 · Discord 관심학생 · 엘리스 기대효과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777240" y="4933188"/>
            <a:ext cx="10634472" cy="576072"/>
          </a:xfrm>
          <a:prstGeom prst="roundRect">
            <a:avLst>
              <a:gd fmla="val 2380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978408" y="5052059"/>
            <a:ext cx="896112" cy="338328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2057400" y="4933188"/>
            <a:ext cx="4754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액션플랜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5257800" y="4933188"/>
            <a:ext cx="59710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엘리스 도입 흐름 · 한계점 및 향후 계획</a:t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777240" y="5605272"/>
            <a:ext cx="10634472" cy="576072"/>
          </a:xfrm>
          <a:prstGeom prst="roundRect">
            <a:avLst>
              <a:gd fmla="val 2380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978408" y="5724144"/>
            <a:ext cx="896112" cy="338328"/>
          </a:xfrm>
          <a:prstGeom prst="roundRect">
            <a:avLst>
              <a:gd fmla="val 50000" name="adj"/>
            </a:avLst>
          </a:prstGeom>
          <a:solidFill>
            <a:srgbClr val="8B95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A·B·C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2057400" y="5605272"/>
            <a:ext cx="47548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부록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5257800" y="5605272"/>
            <a:ext cx="59710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전체 지표표 · 변수중요도 · 누수감사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7772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내일은행 · Tomorrow Bank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1 · 내일은행의 컨셉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서비스 정의 — 매일, 학생의 상태를 «저축»한다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수업 종료 후 </a:t>
            </a: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30초 시간문진</a:t>
            </a: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으로 학생 상태를 </a:t>
            </a: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매일 수집</a:t>
            </a: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하고, V6 모델이 </a:t>
            </a: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fit·at-risk·unhealthy</a:t>
            </a: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로 분류해 두 가지 산출물로 전달합니다.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777240" y="2286000"/>
            <a:ext cx="5135727" cy="356616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777240" y="2286000"/>
            <a:ext cx="5135727" cy="128016"/>
          </a:xfrm>
          <a:prstGeom prst="rect">
            <a:avLst/>
          </a:prstGeom>
          <a:solidFill>
            <a:srgbClr val="15C4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1161288" y="2670048"/>
            <a:ext cx="566928" cy="566928"/>
          </a:xfrm>
          <a:prstGeom prst="ellipse">
            <a:avLst/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1161288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1920240" y="2670048"/>
            <a:ext cx="376412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학생용 · 회복신용도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Recovery Credit Score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1188720" y="3703320"/>
            <a:ext cx="431276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V6의 3분류 확률을 매일 새로 계산되는 «당일 상태»로 환산해 1~9 회복등급·점수로 제시. 학생이 이해·참여·공유하도록 금융 언어로 번역합니다.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6278727" y="2286000"/>
            <a:ext cx="5135727" cy="356616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278727" y="2286000"/>
            <a:ext cx="5135727" cy="128016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662775" y="2670048"/>
            <a:ext cx="566928" cy="566928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6662775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7421727" y="2670048"/>
            <a:ext cx="376412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코치용 · 관심학생 우선순위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Watchlist Priority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6690207" y="3703320"/>
            <a:ext cx="431276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반복 상태·활동 신호로 «먼저 확인할 학생»을 큐로 제시. 자동 제재가 아니라, 코치가 필요한 학생부터 확인하도록 우선순위를 보조합니다.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6690207" y="4983480"/>
            <a:ext cx="4312767" cy="658368"/>
          </a:xfrm>
          <a:prstGeom prst="roundRect">
            <a:avLst>
              <a:gd fmla="val 50000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6690207" y="4983480"/>
            <a:ext cx="4312767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STU-04127</a:t>
            </a:r>
            <a:r>
              <a:rPr b="1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   관심신호 3건 → 먼저 확인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3"/>
          <p:cNvGrpSpPr/>
          <p:nvPr/>
        </p:nvGrpSpPr>
        <p:grpSpPr>
          <a:xfrm>
            <a:off x="1161288" y="4967904"/>
            <a:ext cx="4312767" cy="658368"/>
            <a:chOff x="1264920" y="5029536"/>
            <a:chExt cx="4312767" cy="658368"/>
          </a:xfrm>
        </p:grpSpPr>
        <p:sp>
          <p:nvSpPr>
            <p:cNvPr id="166" name="Google Shape;166;p3"/>
            <p:cNvSpPr/>
            <p:nvPr/>
          </p:nvSpPr>
          <p:spPr>
            <a:xfrm>
              <a:off x="1264920" y="5029536"/>
              <a:ext cx="4312767" cy="658368"/>
            </a:xfrm>
            <a:prstGeom prst="roundRect">
              <a:avLst>
                <a:gd fmla="val 50000" name="adj"/>
              </a:avLst>
            </a:prstGeom>
            <a:solidFill>
              <a:srgbClr val="E4F7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1264920" y="5029536"/>
              <a:ext cx="4312767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15C47E"/>
                  </a:solidFill>
                  <a:latin typeface="Arial"/>
                  <a:ea typeface="Arial"/>
                  <a:cs typeface="Arial"/>
                  <a:sym typeface="Arial"/>
                </a:rPr>
                <a:t>오늘 2등급</a:t>
              </a:r>
              <a:r>
                <a:rPr b="1" i="0" lang="en-US" sz="13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   안정 단계</a:t>
              </a:r>
              <a:endParaRPr b="1" i="0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1 · 내일은행의 컨셉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인터페이스 컨셉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777240" y="1737360"/>
            <a:ext cx="4206240" cy="41605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1188720" y="2057400"/>
            <a:ext cx="33832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학생 앱 — 회복신용도 카드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777240" y="2606039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22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등급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2103120" y="3794760"/>
            <a:ext cx="1554480" cy="384048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안정 단계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1280160" y="4434840"/>
            <a:ext cx="3200399" cy="146304"/>
          </a:xfrm>
          <a:prstGeom prst="roundRect">
            <a:avLst>
              <a:gd fmla="val 50000" name="adj"/>
            </a:avLst>
          </a:prstGeom>
          <a:solidFill>
            <a:srgbClr val="E5E8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1280160" y="4434840"/>
            <a:ext cx="640080" cy="146304"/>
          </a:xfrm>
          <a:prstGeom prst="roundRect">
            <a:avLst>
              <a:gd fmla="val 50000" name="adj"/>
            </a:avLst>
          </a:prstGeom>
          <a:solidFill>
            <a:srgbClr val="15C4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280160" y="4690872"/>
            <a:ext cx="320039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1단계</a:t>
            </a:r>
            <a:r>
              <a:rPr b="1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            회복등급</a:t>
            </a:r>
            <a:r>
              <a:rPr b="1" i="0" lang="en-US" sz="100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            9단계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1234440" y="5093207"/>
            <a:ext cx="32918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수면 +1시간 시 </a:t>
            </a:r>
            <a:r>
              <a:rPr b="1" i="0" lang="en-US" sz="12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1등급 도달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스트레스 관리가 최우선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5349240" y="1737360"/>
            <a:ext cx="6065215" cy="41605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760720" y="2029967"/>
            <a:ext cx="52422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코치 대시보드 — 관심학생 우선순위 큐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5760720" y="245059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순위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309359" y="2450591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학생 ID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7726679" y="2450591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관심신호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8595359" y="2450591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확인 사유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5760720" y="3278124"/>
            <a:ext cx="5242255" cy="10972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760720" y="2871216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04452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6309359" y="281635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STU-04127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7726679" y="281635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4건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8595359" y="281635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상태 반복 · 심야활동 · 과제지연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5760720" y="3813048"/>
            <a:ext cx="5242255" cy="10972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760720" y="34061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04452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309359" y="33512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STU-19833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7726679" y="3351276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3건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595359" y="3351276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unhealthy 전환 · 수면 불일치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5760720" y="4347972"/>
            <a:ext cx="5242255" cy="10972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760720" y="3941063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6309359" y="3886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STU-07714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7726679" y="388620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2건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8595359" y="3886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at-risk 반복 · LMS 지연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5760720" y="4882896"/>
            <a:ext cx="5242255" cy="10972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5760720" y="4475988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309359" y="442112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STU-22590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7726679" y="4421124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2건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8595359" y="4421124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수면보고·활동시간 반복 불일치</a:t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5760720" y="5417820"/>
            <a:ext cx="5242255" cy="10972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5760720" y="5010912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6309359" y="4956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STU-11026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7726679" y="495604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1건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8595359" y="495604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at-risk 1회 · 참고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5760720" y="5614416"/>
            <a:ext cx="5242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※ 여러 관심신호가 반복될수록 상위 노출 · 자동 제재 아님, 코치 확인 보조 · 예시값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1 · 내일은행의 컨셉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캐글 대회 소개 &amp; 데이터 정의서</a:t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777240" y="1554480"/>
            <a:ext cx="2453563" cy="1051560"/>
          </a:xfrm>
          <a:prstGeom prst="roundRect">
            <a:avLst>
              <a:gd fmla="val 1565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777240" y="1815936"/>
            <a:ext cx="91440" cy="50292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1069848" y="1810512"/>
            <a:ext cx="20878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과제</a:t>
            </a:r>
            <a:endParaRPr b="1" i="0" sz="1100" u="none" cap="none" strike="noStrike">
              <a:solidFill>
                <a:srgbClr val="8B95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1069848" y="1983545"/>
            <a:ext cx="20878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3-class 다중분류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3505123" y="1554480"/>
            <a:ext cx="2453563" cy="1051560"/>
          </a:xfrm>
          <a:prstGeom prst="roundRect">
            <a:avLst>
              <a:gd fmla="val 1565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3505123" y="1815936"/>
            <a:ext cx="91440" cy="502920"/>
          </a:xfrm>
          <a:prstGeom prst="rect">
            <a:avLst/>
          </a:prstGeom>
          <a:solidFill>
            <a:srgbClr val="15C4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3797731" y="1810512"/>
            <a:ext cx="20878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평가지표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3797731" y="1979676"/>
            <a:ext cx="20878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Balanced Accuracy</a:t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233007" y="1554480"/>
            <a:ext cx="2453563" cy="1051560"/>
          </a:xfrm>
          <a:prstGeom prst="roundRect">
            <a:avLst>
              <a:gd fmla="val 1565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233007" y="1815936"/>
            <a:ext cx="91440" cy="5029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6525615" y="1810512"/>
            <a:ext cx="20878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학습 데이터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6525615" y="1970532"/>
            <a:ext cx="20878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690,088행 × 13변수</a:t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8960891" y="1554480"/>
            <a:ext cx="2453563" cy="1051560"/>
          </a:xfrm>
          <a:prstGeom prst="roundRect">
            <a:avLst>
              <a:gd fmla="val 1565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8960891" y="1815936"/>
            <a:ext cx="91440" cy="502920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9253499" y="1810512"/>
            <a:ext cx="20878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9253499" y="1979877"/>
            <a:ext cx="20878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295,753행</a:t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777240" y="2788920"/>
            <a:ext cx="10637215" cy="713232"/>
          </a:xfrm>
          <a:prstGeom prst="roundRect">
            <a:avLst>
              <a:gd fmla="val 23076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1143000" y="2788920"/>
            <a:ext cx="9905695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핵심  </a:t>
            </a: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위험군(unhealthy)이 </a:t>
            </a:r>
            <a:r>
              <a:rPr b="1" i="0" lang="en-US" sz="130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8.4%</a:t>
            </a: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에 불과한 불균형 다중분류 → 단순 정확도가 아닌 </a:t>
            </a: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Balanced Accuracy</a:t>
            </a: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로 소수 클래스까지 공정 평가</a:t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777240" y="3703320"/>
            <a:ext cx="10637215" cy="237744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1143000" y="3891728"/>
            <a:ext cx="9905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데이터 정의서 — 예측변수 13종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1143000" y="4288640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수치</a:t>
            </a:r>
            <a:endParaRPr b="1" i="0" sz="950" u="none" cap="none" strike="noStrike">
              <a:solidFill>
                <a:srgbClr val="31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1801368" y="4270352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sleep_duration 수면시간</a:t>
            </a:r>
            <a:endParaRPr b="0" i="0" sz="11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1143000" y="4617824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수치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1801368" y="4599536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heart_rate 심박수</a:t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1143000" y="4947008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수치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1801368" y="4928720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bmi 체질량지수</a:t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1143000" y="5276192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수치</a:t>
            </a:r>
            <a:endParaRPr/>
          </a:p>
        </p:txBody>
      </p:sp>
      <p:sp>
        <p:nvSpPr>
          <p:cNvPr id="250" name="Google Shape;250;p5"/>
          <p:cNvSpPr txBox="1"/>
          <p:nvPr/>
        </p:nvSpPr>
        <p:spPr>
          <a:xfrm>
            <a:off x="1801368" y="5257904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calorie_expenditure 소모칼로리</a:t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1143000" y="5605376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수치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1801368" y="5587088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step_count 걸음수</a:t>
            </a:r>
            <a:endParaRPr b="0" i="0" sz="11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4490618" y="4288640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수치</a:t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5148986" y="4270352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exercise_duration 운동시간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4490618" y="4617824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수치</a:t>
            </a:r>
            <a:endParaRPr/>
          </a:p>
        </p:txBody>
      </p:sp>
      <p:sp>
        <p:nvSpPr>
          <p:cNvPr id="256" name="Google Shape;256;p5"/>
          <p:cNvSpPr txBox="1"/>
          <p:nvPr/>
        </p:nvSpPr>
        <p:spPr>
          <a:xfrm>
            <a:off x="5148986" y="4599536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water_intake 수분섭취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4490618" y="4947008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범주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5148986" y="4928720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diet_type 식단유형</a:t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4490618" y="5276192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범주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5148986" y="5257904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stress_level 스트레스</a:t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4490618" y="5605376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범주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5148986" y="5587088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sleep_quality 수면의 질</a:t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7838236" y="4288640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범주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8496604" y="4270352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physical_activity_level 활동수준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7838236" y="4617824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범주</a:t>
            </a:r>
            <a:endParaRPr/>
          </a:p>
        </p:txBody>
      </p:sp>
      <p:sp>
        <p:nvSpPr>
          <p:cNvPr id="266" name="Google Shape;266;p5"/>
          <p:cNvSpPr txBox="1"/>
          <p:nvPr/>
        </p:nvSpPr>
        <p:spPr>
          <a:xfrm>
            <a:off x="8496604" y="4599536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smoking_alcohol 흡연·음주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7838236" y="4947008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범주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8496604" y="4928720"/>
            <a:ext cx="257037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gender 성별</a:t>
            </a:r>
            <a:endParaRPr/>
          </a:p>
        </p:txBody>
      </p:sp>
      <p:sp>
        <p:nvSpPr>
          <p:cNvPr id="269" name="Google Shape;269;p5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/>
          <p:nvPr/>
        </p:nvSpPr>
        <p:spPr>
          <a:xfrm>
            <a:off x="5992364" y="5213843"/>
            <a:ext cx="4886544" cy="133572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5938577" y="3637101"/>
            <a:ext cx="4886544" cy="133572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5938576" y="2061811"/>
            <a:ext cx="4886545" cy="133572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2 · SCQA &amp; 문제정의</a:t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SCQA — 왜 «내일은행»인가</a:t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5938576" y="475060"/>
            <a:ext cx="4886545" cy="133572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5978495" y="5214057"/>
            <a:ext cx="677107" cy="1335292"/>
          </a:xfrm>
          <a:prstGeom prst="roundRect">
            <a:avLst>
              <a:gd fmla="val 16667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5922402" y="2062239"/>
            <a:ext cx="677107" cy="1335292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5938577" y="3637315"/>
            <a:ext cx="677107" cy="1335292"/>
          </a:xfrm>
          <a:prstGeom prst="roundRect">
            <a:avLst>
              <a:gd fmla="val 16667" name="adj"/>
            </a:avLst>
          </a:prstGeom>
          <a:solidFill>
            <a:srgbClr val="FDEC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5938577" y="475488"/>
            <a:ext cx="677107" cy="1335292"/>
          </a:xfrm>
          <a:prstGeom prst="roundRect">
            <a:avLst>
              <a:gd fmla="val 16667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6009414" y="800127"/>
            <a:ext cx="549092" cy="548900"/>
          </a:xfrm>
          <a:prstGeom prst="ellipse">
            <a:avLst/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6009414" y="816891"/>
            <a:ext cx="549092" cy="65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87" name="Google Shape;287;p6"/>
          <p:cNvSpPr txBox="1"/>
          <p:nvPr/>
        </p:nvSpPr>
        <p:spPr>
          <a:xfrm>
            <a:off x="6815234" y="579695"/>
            <a:ext cx="3672687" cy="224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Situation · 상황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6815233" y="876445"/>
            <a:ext cx="3672687" cy="77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부트캠프는 정해진 기간 안에 강의·과제·프로젝트를 수행하는 고강도 학습환경이다. 엘리스는 출결·강의이수·과제·LMS 활동으로 학생을 관리하고, 결석·미제출처럼 문제가 «활동»으로 드러난 뒤에야 코치가 개입한다.</a:t>
            </a:r>
            <a:endParaRPr/>
          </a:p>
        </p:txBody>
      </p:sp>
      <p:sp>
        <p:nvSpPr>
          <p:cNvPr id="289" name="Google Shape;289;p6"/>
          <p:cNvSpPr txBox="1"/>
          <p:nvPr/>
        </p:nvSpPr>
        <p:spPr>
          <a:xfrm>
            <a:off x="5972838" y="2403643"/>
            <a:ext cx="542965" cy="65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6815234" y="2235971"/>
            <a:ext cx="3672687" cy="224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Complication · 문제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6815232" y="2599367"/>
            <a:ext cx="3672687" cy="572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출석·과제를 지키면서도 수면·스트레스·회복상태가 무너지는 학생은 정상으로 보인다. 상태를 매일 수집하는 구조가 없어 표면화된 뒤에야 발견돼 개입이 늦고 관리비용이 는다.</a:t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6066592" y="3676429"/>
            <a:ext cx="542961" cy="528662"/>
          </a:xfrm>
          <a:prstGeom prst="ellipse">
            <a:avLst/>
          </a:prstGeom>
          <a:solidFill>
            <a:srgbClr val="FDEC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5992364" y="3925159"/>
            <a:ext cx="542961" cy="65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6815234" y="3816294"/>
            <a:ext cx="3672687" cy="224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Question · 질문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6835104" y="4167941"/>
            <a:ext cx="3672688" cy="57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학생 부담을 최소화하면서 상태신호를 매일 수집하고, 문제가 학습활동으로 드러나기 전에 «먼저 확인할 학생»을 자동 선별할 </a:t>
            </a:r>
            <a:endParaRPr b="0" i="0" sz="10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수 있는가?</a:t>
            </a:r>
            <a:endParaRPr b="0" i="0" sz="10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6066592" y="5271837"/>
            <a:ext cx="526919" cy="504749"/>
          </a:xfrm>
          <a:prstGeom prst="ellipse">
            <a:avLst/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6053588" y="5521959"/>
            <a:ext cx="526919" cy="65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8" name="Google Shape;298;p6"/>
          <p:cNvSpPr txBox="1"/>
          <p:nvPr/>
        </p:nvSpPr>
        <p:spPr>
          <a:xfrm>
            <a:off x="6815234" y="5387553"/>
            <a:ext cx="3672687" cy="224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Answer · 답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6815232" y="5725150"/>
            <a:ext cx="3787954" cy="572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30초 시간문진으로 상태를 매일 수집하고 V6로 fit·at-risk·unhealthy를 분류. 누적 상태와 출결·과제·LMS·Discord 활동을 결합해 관심학생을 우선 노출, 코치가 먼저 개입하게 한다.</a:t>
            </a:r>
            <a:endParaRPr/>
          </a:p>
        </p:txBody>
      </p:sp>
      <p:sp>
        <p:nvSpPr>
          <p:cNvPr id="300" name="Google Shape;300;p6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3 · 근거 피라미드 → 결론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하나의 결론과 세 개의 근거</a:t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777240" y="1554480"/>
            <a:ext cx="10637215" cy="1051560"/>
          </a:xfrm>
          <a:prstGeom prst="roundRect">
            <a:avLst>
              <a:gd fmla="val 17391" name="adj"/>
            </a:avLst>
          </a:prstGeom>
          <a:solidFill>
            <a:srgbClr val="19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1143000" y="1901952"/>
            <a:ext cx="1005840" cy="365760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2377440" y="1554480"/>
            <a:ext cx="862553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생활데이터만으로 회복위험을 </a:t>
            </a:r>
            <a:r>
              <a:rPr b="1" i="0" lang="en-US" sz="15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Balanced Accuracy 0.95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수준으로 선별할 수 있으며, 그 결과를 «내일은행» 서비스로 바로 활용할 수 있다.</a:t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777240" y="2971800"/>
            <a:ext cx="3301898" cy="278892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7"/>
          <p:cNvGrpSpPr/>
          <p:nvPr/>
        </p:nvGrpSpPr>
        <p:grpSpPr>
          <a:xfrm>
            <a:off x="1161288" y="3196888"/>
            <a:ext cx="3384294" cy="601384"/>
            <a:chOff x="1161288" y="3196888"/>
            <a:chExt cx="3384294" cy="601384"/>
          </a:xfrm>
        </p:grpSpPr>
        <p:sp>
          <p:nvSpPr>
            <p:cNvPr id="313" name="Google Shape;313;p7"/>
            <p:cNvSpPr/>
            <p:nvPr/>
          </p:nvSpPr>
          <p:spPr>
            <a:xfrm>
              <a:off x="1161288" y="3196888"/>
              <a:ext cx="566928" cy="566928"/>
            </a:xfrm>
            <a:prstGeom prst="roundRect">
              <a:avLst>
                <a:gd fmla="val 50000" name="adj"/>
              </a:avLst>
            </a:prstGeom>
            <a:solidFill>
              <a:srgbClr val="15C47E"/>
            </a:solidFill>
            <a:ln>
              <a:noFill/>
            </a:ln>
          </p:spPr>
          <p:txBody>
            <a:bodyPr anchorCtr="0" anchor="ctr" bIns="18275" lIns="45700" spcFirstLastPara="1" rIns="45700" wrap="square" tIns="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14" name="Google Shape;314;p7"/>
            <p:cNvSpPr txBox="1"/>
            <p:nvPr/>
          </p:nvSpPr>
          <p:spPr>
            <a:xfrm>
              <a:off x="1975204" y="3386792"/>
              <a:ext cx="2570378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데이터가 말한다</a:t>
              </a:r>
              <a:endParaRPr b="1" i="0" sz="16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p7"/>
          <p:cNvSpPr txBox="1"/>
          <p:nvPr/>
        </p:nvSpPr>
        <p:spPr>
          <a:xfrm>
            <a:off x="1179576" y="4078413"/>
            <a:ext cx="2524658" cy="4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스트레스·수면·활동수준이 상태와</a:t>
            </a:r>
            <a:endParaRPr b="0" i="0" sz="12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연관 (약한 연관, 인과 아님)</a:t>
            </a:r>
            <a:endParaRPr/>
          </a:p>
        </p:txBody>
      </p:sp>
      <p:grpSp>
        <p:nvGrpSpPr>
          <p:cNvPr id="316" name="Google Shape;316;p7"/>
          <p:cNvGrpSpPr/>
          <p:nvPr/>
        </p:nvGrpSpPr>
        <p:grpSpPr>
          <a:xfrm>
            <a:off x="1179576" y="4994592"/>
            <a:ext cx="2497226" cy="457200"/>
            <a:chOff x="1179576" y="5004640"/>
            <a:chExt cx="2497226" cy="457200"/>
          </a:xfrm>
        </p:grpSpPr>
        <p:sp>
          <p:nvSpPr>
            <p:cNvPr id="317" name="Google Shape;317;p7"/>
            <p:cNvSpPr/>
            <p:nvPr/>
          </p:nvSpPr>
          <p:spPr>
            <a:xfrm>
              <a:off x="1179576" y="5004640"/>
              <a:ext cx="2497226" cy="457200"/>
            </a:xfrm>
            <a:prstGeom prst="roundRect">
              <a:avLst>
                <a:gd fmla="val 50000" name="adj"/>
              </a:avLst>
            </a:prstGeom>
            <a:solidFill>
              <a:srgbClr val="E4F7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7"/>
            <p:cNvSpPr txBox="1"/>
            <p:nvPr/>
          </p:nvSpPr>
          <p:spPr>
            <a:xfrm>
              <a:off x="1179576" y="5004640"/>
              <a:ext cx="24972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15C47E"/>
                  </a:solidFill>
                  <a:latin typeface="Arial"/>
                  <a:ea typeface="Arial"/>
                  <a:cs typeface="Arial"/>
                  <a:sym typeface="Arial"/>
                </a:rPr>
                <a:t>Cramér's V 0.41 / 0.24</a:t>
              </a:r>
              <a:endParaRPr/>
            </a:p>
          </p:txBody>
        </p:sp>
      </p:grpSp>
      <p:sp>
        <p:nvSpPr>
          <p:cNvPr id="319" name="Google Shape;319;p7"/>
          <p:cNvSpPr/>
          <p:nvPr/>
        </p:nvSpPr>
        <p:spPr>
          <a:xfrm>
            <a:off x="4444898" y="2971800"/>
            <a:ext cx="3301898" cy="278892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7"/>
          <p:cNvGrpSpPr/>
          <p:nvPr/>
        </p:nvGrpSpPr>
        <p:grpSpPr>
          <a:xfrm>
            <a:off x="4828946" y="3196888"/>
            <a:ext cx="3321994" cy="590833"/>
            <a:chOff x="4828946" y="3196888"/>
            <a:chExt cx="3321994" cy="590833"/>
          </a:xfrm>
        </p:grpSpPr>
        <p:sp>
          <p:nvSpPr>
            <p:cNvPr id="321" name="Google Shape;321;p7"/>
            <p:cNvSpPr/>
            <p:nvPr/>
          </p:nvSpPr>
          <p:spPr>
            <a:xfrm>
              <a:off x="4828946" y="3196888"/>
              <a:ext cx="566928" cy="566928"/>
            </a:xfrm>
            <a:prstGeom prst="roundRect">
              <a:avLst>
                <a:gd fmla="val 50000" name="adj"/>
              </a:avLst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18275" lIns="45700" spcFirstLastPara="1" rIns="45700" wrap="square" tIns="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22" name="Google Shape;322;p7"/>
            <p:cNvSpPr txBox="1"/>
            <p:nvPr/>
          </p:nvSpPr>
          <p:spPr>
            <a:xfrm>
              <a:off x="5580562" y="3376241"/>
              <a:ext cx="2570378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모델이 검증한다</a:t>
              </a:r>
              <a:endParaRPr b="1" i="0" sz="16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7"/>
          <p:cNvSpPr txBox="1"/>
          <p:nvPr/>
        </p:nvSpPr>
        <p:spPr>
          <a:xfrm>
            <a:off x="4819802" y="4111894"/>
            <a:ext cx="2524658" cy="4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12종 공정 비교에서</a:t>
            </a:r>
            <a:endParaRPr b="0" i="0" sz="12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부스팅 계열이 최상위</a:t>
            </a:r>
            <a:endParaRPr b="0" i="0" sz="12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7"/>
          <p:cNvGrpSpPr/>
          <p:nvPr/>
        </p:nvGrpSpPr>
        <p:grpSpPr>
          <a:xfrm>
            <a:off x="4825486" y="5021235"/>
            <a:ext cx="2497226" cy="457200"/>
            <a:chOff x="4825486" y="5031283"/>
            <a:chExt cx="2497226" cy="457200"/>
          </a:xfrm>
        </p:grpSpPr>
        <p:sp>
          <p:nvSpPr>
            <p:cNvPr id="325" name="Google Shape;325;p7"/>
            <p:cNvSpPr/>
            <p:nvPr/>
          </p:nvSpPr>
          <p:spPr>
            <a:xfrm>
              <a:off x="4825486" y="5031283"/>
              <a:ext cx="2497226" cy="457200"/>
            </a:xfrm>
            <a:prstGeom prst="roundRect">
              <a:avLst>
                <a:gd fmla="val 50000" name="adj"/>
              </a:avLst>
            </a:prstGeom>
            <a:solidFill>
              <a:srgbClr val="E8F1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4825486" y="5031283"/>
              <a:ext cx="24972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HGB 단일 0.945</a:t>
              </a:r>
              <a:endParaRPr/>
            </a:p>
          </p:txBody>
        </p:sp>
      </p:grpSp>
      <p:sp>
        <p:nvSpPr>
          <p:cNvPr id="327" name="Google Shape;327;p7"/>
          <p:cNvSpPr/>
          <p:nvPr/>
        </p:nvSpPr>
        <p:spPr>
          <a:xfrm>
            <a:off x="8112556" y="2971800"/>
            <a:ext cx="3301898" cy="278892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p7"/>
          <p:cNvGrpSpPr/>
          <p:nvPr/>
        </p:nvGrpSpPr>
        <p:grpSpPr>
          <a:xfrm>
            <a:off x="8496604" y="3196888"/>
            <a:ext cx="3321994" cy="566928"/>
            <a:chOff x="8496604" y="3196888"/>
            <a:chExt cx="3321994" cy="566928"/>
          </a:xfrm>
        </p:grpSpPr>
        <p:sp>
          <p:nvSpPr>
            <p:cNvPr id="329" name="Google Shape;329;p7"/>
            <p:cNvSpPr/>
            <p:nvPr/>
          </p:nvSpPr>
          <p:spPr>
            <a:xfrm>
              <a:off x="8496604" y="3196888"/>
              <a:ext cx="566928" cy="566928"/>
            </a:xfrm>
            <a:prstGeom prst="roundRect">
              <a:avLst>
                <a:gd fmla="val 50000" name="adj"/>
              </a:avLst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18275" lIns="45700" spcFirstLastPara="1" rIns="45700" wrap="square" tIns="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9248220" y="3346704"/>
              <a:ext cx="2570378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결과가 재현된다</a:t>
              </a:r>
              <a:endParaRPr b="1" i="0" sz="16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7"/>
          <p:cNvSpPr txBox="1"/>
          <p:nvPr/>
        </p:nvSpPr>
        <p:spPr>
          <a:xfrm>
            <a:off x="8601656" y="4252579"/>
            <a:ext cx="25246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Direct OOF ≈ 제출 Public 으로 일치</a:t>
            </a:r>
            <a:endParaRPr b="0" i="0" sz="12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7"/>
          <p:cNvGrpSpPr/>
          <p:nvPr/>
        </p:nvGrpSpPr>
        <p:grpSpPr>
          <a:xfrm>
            <a:off x="8514892" y="5009146"/>
            <a:ext cx="2497226" cy="457200"/>
            <a:chOff x="8514892" y="5019194"/>
            <a:chExt cx="2497226" cy="457200"/>
          </a:xfrm>
        </p:grpSpPr>
        <p:sp>
          <p:nvSpPr>
            <p:cNvPr id="333" name="Google Shape;333;p7"/>
            <p:cNvSpPr/>
            <p:nvPr/>
          </p:nvSpPr>
          <p:spPr>
            <a:xfrm>
              <a:off x="8514892" y="5019194"/>
              <a:ext cx="2497226" cy="457200"/>
            </a:xfrm>
            <a:prstGeom prst="roundRect">
              <a:avLst>
                <a:gd fmla="val 50000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7"/>
            <p:cNvSpPr txBox="1"/>
            <p:nvPr/>
          </p:nvSpPr>
          <p:spPr>
            <a:xfrm>
              <a:off x="8514892" y="5019194"/>
              <a:ext cx="24972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FF9500"/>
                  </a:solidFill>
                  <a:latin typeface="Arial"/>
                  <a:ea typeface="Arial"/>
                  <a:cs typeface="Arial"/>
                  <a:sym typeface="Arial"/>
                </a:rPr>
                <a:t>0.950774 ≈ 0.95083</a:t>
              </a:r>
              <a:endParaRPr/>
            </a:p>
          </p:txBody>
        </p:sp>
      </p:grpSp>
      <p:sp>
        <p:nvSpPr>
          <p:cNvPr id="335" name="Google Shape;335;p7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3 · 근거 피라미드 → 결론</a:t>
            </a:r>
            <a:endParaRPr/>
          </a:p>
        </p:txBody>
      </p:sp>
      <p:sp>
        <p:nvSpPr>
          <p:cNvPr id="342" name="Google Shape;342;p8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최종 성과 요약</a:t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777240" y="1645920"/>
            <a:ext cx="2453563" cy="2148840"/>
          </a:xfrm>
          <a:prstGeom prst="roundRect">
            <a:avLst>
              <a:gd fmla="val 9361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777240" y="1645920"/>
            <a:ext cx="2453563" cy="118872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960120" y="2148840"/>
            <a:ext cx="208780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0.95083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914400" y="3017520"/>
            <a:ext cx="217924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Kaggle Public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Balanced Accuracy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3505123" y="1645920"/>
            <a:ext cx="2453563" cy="2148840"/>
          </a:xfrm>
          <a:prstGeom prst="roundRect">
            <a:avLst>
              <a:gd fmla="val 9361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505123" y="1645920"/>
            <a:ext cx="2453563" cy="118872"/>
          </a:xfrm>
          <a:prstGeom prst="rect">
            <a:avLst/>
          </a:prstGeom>
          <a:solidFill>
            <a:srgbClr val="15C4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 txBox="1"/>
          <p:nvPr/>
        </p:nvSpPr>
        <p:spPr>
          <a:xfrm>
            <a:off x="3688003" y="2148840"/>
            <a:ext cx="208780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0.950774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3642283" y="3017520"/>
            <a:ext cx="217924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Direct OOF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Balanced Accuracy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6233007" y="1645920"/>
            <a:ext cx="2453563" cy="2148840"/>
          </a:xfrm>
          <a:prstGeom prst="roundRect">
            <a:avLst>
              <a:gd fmla="val 9361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6233007" y="1645920"/>
            <a:ext cx="2453563" cy="11887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 txBox="1"/>
          <p:nvPr/>
        </p:nvSpPr>
        <p:spPr>
          <a:xfrm>
            <a:off x="6415887" y="2148840"/>
            <a:ext cx="208780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96.5%</a:t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6370167" y="3017520"/>
            <a:ext cx="217924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unhealthy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재현율</a:t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8960891" y="1645920"/>
            <a:ext cx="2453563" cy="2148840"/>
          </a:xfrm>
          <a:prstGeom prst="roundRect">
            <a:avLst>
              <a:gd fmla="val 9361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8960891" y="1645920"/>
            <a:ext cx="2453563" cy="11887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 txBox="1"/>
          <p:nvPr/>
        </p:nvSpPr>
        <p:spPr>
          <a:xfrm>
            <a:off x="9143771" y="2148840"/>
            <a:ext cx="208780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C=0.1</a:t>
            </a:r>
            <a:endParaRPr/>
          </a:p>
        </p:txBody>
      </p:sp>
      <p:sp>
        <p:nvSpPr>
          <p:cNvPr id="358" name="Google Shape;358;p8"/>
          <p:cNvSpPr txBox="1"/>
          <p:nvPr/>
        </p:nvSpPr>
        <p:spPr>
          <a:xfrm>
            <a:off x="9098051" y="3017520"/>
            <a:ext cx="217924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meta 규제만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조정한 V6</a:t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777240" y="4114800"/>
            <a:ext cx="10637215" cy="1554480"/>
          </a:xfrm>
          <a:prstGeom prst="roundRect">
            <a:avLst>
              <a:gd fmla="val 11764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 txBox="1"/>
          <p:nvPr/>
        </p:nvSpPr>
        <p:spPr>
          <a:xfrm>
            <a:off x="1188720" y="4407408"/>
            <a:ext cx="98142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한 줄 결론</a:t>
            </a:r>
            <a:endParaRPr/>
          </a:p>
        </p:txBody>
      </p:sp>
      <p:sp>
        <p:nvSpPr>
          <p:cNvPr id="361" name="Google Shape;361;p8"/>
          <p:cNvSpPr txBox="1"/>
          <p:nvPr/>
        </p:nvSpPr>
        <p:spPr>
          <a:xfrm>
            <a:off x="1188720" y="4800600"/>
            <a:ext cx="98142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V6은 검증된 V5 구조에 메타 규제만 C=0.1로 조정한 모델로, </a:t>
            </a: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Direct OOF 0.950774 ≈ Public 0.95083</a:t>
            </a:r>
            <a:r>
              <a:rPr b="0" i="0" lang="en-US" sz="14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의 소폭·일관 개선을 확보. unhealthy를 96.5%로 포착하므로 «관심학생 우선순위»가 필요한 서비스에 그대로 투입할 수 있다.</a:t>
            </a:r>
            <a:endParaRPr/>
          </a:p>
        </p:txBody>
      </p:sp>
      <p:sp>
        <p:nvSpPr>
          <p:cNvPr id="362" name="Google Shape;362;p8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3 · 근거 피라미드 → 결론</a:t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V6 근거 — 네 층위로 구분해 읽는다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777240" y="1508760"/>
            <a:ext cx="5135727" cy="178308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1" name="Google Shape;371;p9"/>
          <p:cNvGrpSpPr/>
          <p:nvPr/>
        </p:nvGrpSpPr>
        <p:grpSpPr>
          <a:xfrm>
            <a:off x="1037740" y="1639690"/>
            <a:ext cx="603504" cy="623600"/>
            <a:chOff x="786384" y="1775847"/>
            <a:chExt cx="603504" cy="623600"/>
          </a:xfrm>
        </p:grpSpPr>
        <p:sp>
          <p:nvSpPr>
            <p:cNvPr id="372" name="Google Shape;372;p9"/>
            <p:cNvSpPr/>
            <p:nvPr/>
          </p:nvSpPr>
          <p:spPr>
            <a:xfrm>
              <a:off x="786384" y="1795943"/>
              <a:ext cx="603504" cy="603504"/>
            </a:xfrm>
            <a:prstGeom prst="ellipse">
              <a:avLst/>
            </a:prstGeom>
            <a:solidFill>
              <a:srgbClr val="E8F1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9"/>
            <p:cNvSpPr txBox="1"/>
            <p:nvPr/>
          </p:nvSpPr>
          <p:spPr>
            <a:xfrm>
              <a:off x="786384" y="1775847"/>
              <a:ext cx="603504" cy="603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sp>
        <p:nvSpPr>
          <p:cNvPr id="374" name="Google Shape;374;p9"/>
          <p:cNvSpPr txBox="1"/>
          <p:nvPr/>
        </p:nvSpPr>
        <p:spPr>
          <a:xfrm>
            <a:off x="1895624" y="1775847"/>
            <a:ext cx="37641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V6가 실제로 검증한 것</a:t>
            </a:r>
            <a:endParaRPr/>
          </a:p>
        </p:txBody>
      </p:sp>
      <p:sp>
        <p:nvSpPr>
          <p:cNvPr id="375" name="Google Shape;375;p9"/>
          <p:cNvSpPr txBox="1"/>
          <p:nvPr/>
        </p:nvSpPr>
        <p:spPr>
          <a:xfrm>
            <a:off x="1188720" y="2482648"/>
            <a:ext cx="43127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5-base stack + meta LogReg(C=0.1). Direct OOF 0.950774 · Public 0.95083 — V5 대비 소폭·일관 개선.</a:t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278727" y="1508760"/>
            <a:ext cx="5135727" cy="178308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9"/>
          <p:cNvGrpSpPr/>
          <p:nvPr/>
        </p:nvGrpSpPr>
        <p:grpSpPr>
          <a:xfrm>
            <a:off x="6635890" y="1629642"/>
            <a:ext cx="603504" cy="633648"/>
            <a:chOff x="6274154" y="1809658"/>
            <a:chExt cx="603504" cy="633648"/>
          </a:xfrm>
        </p:grpSpPr>
        <p:sp>
          <p:nvSpPr>
            <p:cNvPr id="378" name="Google Shape;378;p9"/>
            <p:cNvSpPr/>
            <p:nvPr/>
          </p:nvSpPr>
          <p:spPr>
            <a:xfrm>
              <a:off x="6274154" y="1839802"/>
              <a:ext cx="603504" cy="603504"/>
            </a:xfrm>
            <a:prstGeom prst="ellipse">
              <a:avLst/>
            </a:prstGeom>
            <a:solidFill>
              <a:srgbClr val="E4F7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9"/>
            <p:cNvSpPr txBox="1"/>
            <p:nvPr/>
          </p:nvSpPr>
          <p:spPr>
            <a:xfrm>
              <a:off x="6274154" y="1809658"/>
              <a:ext cx="603504" cy="603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5C47E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sp>
        <p:nvSpPr>
          <p:cNvPr id="380" name="Google Shape;380;p9"/>
          <p:cNvSpPr txBox="1"/>
          <p:nvPr/>
        </p:nvSpPr>
        <p:spPr>
          <a:xfrm>
            <a:off x="7467447" y="1775847"/>
            <a:ext cx="37641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기존 EDA에서 관찰한 것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6740447" y="2512792"/>
            <a:ext cx="4312767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스트레스·수면·자기보고 활동수준이 상태와 연관. 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인과가 아닌 «약한 연관» 수준이다.</a:t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777240" y="3584448"/>
            <a:ext cx="5135727" cy="178308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3" name="Google Shape;383;p9"/>
          <p:cNvGrpSpPr/>
          <p:nvPr/>
        </p:nvGrpSpPr>
        <p:grpSpPr>
          <a:xfrm>
            <a:off x="1037740" y="3751056"/>
            <a:ext cx="613552" cy="633648"/>
            <a:chOff x="927212" y="3901776"/>
            <a:chExt cx="613552" cy="633648"/>
          </a:xfrm>
        </p:grpSpPr>
        <p:sp>
          <p:nvSpPr>
            <p:cNvPr id="384" name="Google Shape;384;p9"/>
            <p:cNvSpPr/>
            <p:nvPr/>
          </p:nvSpPr>
          <p:spPr>
            <a:xfrm>
              <a:off x="937260" y="3931920"/>
              <a:ext cx="603504" cy="603504"/>
            </a:xfrm>
            <a:prstGeom prst="ellipse">
              <a:avLst/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9"/>
            <p:cNvSpPr txBox="1"/>
            <p:nvPr/>
          </p:nvSpPr>
          <p:spPr>
            <a:xfrm>
              <a:off x="927212" y="3901776"/>
              <a:ext cx="603504" cy="603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95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sp>
        <p:nvSpPr>
          <p:cNvPr id="386" name="Google Shape;386;p9"/>
          <p:cNvSpPr txBox="1"/>
          <p:nvPr/>
        </p:nvSpPr>
        <p:spPr>
          <a:xfrm>
            <a:off x="1895624" y="3931920"/>
            <a:ext cx="37641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서비스 언어로 쓰는 것</a:t>
            </a:r>
            <a:endParaRPr/>
          </a:p>
        </p:txBody>
      </p:sp>
      <p:sp>
        <p:nvSpPr>
          <p:cNvPr id="387" name="Google Shape;387;p9"/>
          <p:cNvSpPr txBox="1"/>
          <p:nvPr/>
        </p:nvSpPr>
        <p:spPr>
          <a:xfrm>
            <a:off x="1188720" y="4608576"/>
            <a:ext cx="43127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회복신용도·회복부채·가산금리는 검증된 예측값이 아니라 학생 전달용 «번역»이다.</a:t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6278727" y="3584448"/>
            <a:ext cx="5135727" cy="178308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9" name="Google Shape;389;p9"/>
          <p:cNvGrpSpPr/>
          <p:nvPr/>
        </p:nvGrpSpPr>
        <p:grpSpPr>
          <a:xfrm>
            <a:off x="6635890" y="3741008"/>
            <a:ext cx="603504" cy="623600"/>
            <a:chOff x="6414136" y="3851536"/>
            <a:chExt cx="603504" cy="623600"/>
          </a:xfrm>
        </p:grpSpPr>
        <p:sp>
          <p:nvSpPr>
            <p:cNvPr id="390" name="Google Shape;390;p9"/>
            <p:cNvSpPr/>
            <p:nvPr/>
          </p:nvSpPr>
          <p:spPr>
            <a:xfrm>
              <a:off x="6414136" y="3871632"/>
              <a:ext cx="603504" cy="603504"/>
            </a:xfrm>
            <a:prstGeom prst="ellipse">
              <a:avLst/>
            </a:prstGeom>
            <a:solidFill>
              <a:srgbClr val="FDEC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9"/>
            <p:cNvSpPr txBox="1"/>
            <p:nvPr/>
          </p:nvSpPr>
          <p:spPr>
            <a:xfrm>
              <a:off x="6414136" y="3851536"/>
              <a:ext cx="603504" cy="603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0445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</p:grpSp>
      <p:sp>
        <p:nvSpPr>
          <p:cNvPr id="392" name="Google Shape;392;p9"/>
          <p:cNvSpPr txBox="1"/>
          <p:nvPr/>
        </p:nvSpPr>
        <p:spPr>
          <a:xfrm>
            <a:off x="7467447" y="3931920"/>
            <a:ext cx="37641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엘리스 데이터로 고도화할 것</a:t>
            </a:r>
            <a:endParaRPr/>
          </a:p>
        </p:txBody>
      </p:sp>
      <p:sp>
        <p:nvSpPr>
          <p:cNvPr id="393" name="Google Shape;393;p9"/>
          <p:cNvSpPr txBox="1"/>
          <p:nvPr/>
        </p:nvSpPr>
        <p:spPr>
          <a:xfrm>
            <a:off x="6790688" y="4608576"/>
            <a:ext cx="4312767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누적 상태·활동·개입으로 관심학생 탐지 모델로 발전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— 현재는 미구현 «목표».</a:t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777240" y="5495544"/>
            <a:ext cx="10637215" cy="658368"/>
          </a:xfrm>
          <a:prstGeom prst="roundRect">
            <a:avLst>
              <a:gd fmla="val 25000" name="adj"/>
            </a:avLst>
          </a:prstGeom>
          <a:solidFill>
            <a:srgbClr val="19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1188720" y="5495544"/>
            <a:ext cx="98142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주의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서로 다른 이 네 층위를 </a:t>
            </a: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하나의 동일 검증 결과처럼 합치지 않는다.</a:t>
            </a:r>
            <a:endParaRPr/>
          </a:p>
        </p:txBody>
      </p:sp>
      <p:sp>
        <p:nvSpPr>
          <p:cNvPr id="396" name="Google Shape;396;p9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4 · 머신러닝 수행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데이터 개요 &amp; 전처리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658368" y="1481328"/>
            <a:ext cx="6656832" cy="4709160"/>
          </a:xfrm>
          <a:prstGeom prst="roundRect">
            <a:avLst>
              <a:gd fmla="val 233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AAB7C4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7543800" y="1481328"/>
            <a:ext cx="3986784" cy="4709160"/>
          </a:xfrm>
          <a:prstGeom prst="roundRect">
            <a:avLst>
              <a:gd fmla="val 275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AAB7C4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987552" y="174650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91C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8191C"/>
                </a:solidFill>
                <a:latin typeface="Noto Sans"/>
                <a:ea typeface="Noto Sans"/>
                <a:cs typeface="Noto Sans"/>
                <a:sym typeface="Noto Sans"/>
              </a:rPr>
              <a:t>회복 등급 분포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697480" y="1746504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690,088명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062472" y="1783080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198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8B9198"/>
                </a:solidFill>
                <a:latin typeface="Noto Sans"/>
                <a:ea typeface="Noto Sans"/>
                <a:cs typeface="Noto Sans"/>
                <a:sym typeface="Noto Sans"/>
              </a:rPr>
              <a:t>단위: 명 / 비율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1024128" y="224028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616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9616B"/>
                </a:solidFill>
                <a:latin typeface="Noto Sans"/>
                <a:ea typeface="Noto Sans"/>
                <a:cs typeface="Noto Sans"/>
                <a:sym typeface="Noto Sans"/>
              </a:rPr>
              <a:t>우량 (fit)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2212848" y="2249424"/>
            <a:ext cx="3063240" cy="201168"/>
          </a:xfrm>
          <a:prstGeom prst="roundRect">
            <a:avLst>
              <a:gd fmla="val 27273" name="adj"/>
            </a:avLst>
          </a:prstGeom>
          <a:solidFill>
            <a:srgbClr val="EAF1F7"/>
          </a:solidFill>
          <a:ln cap="flat" cmpd="sng" w="12700">
            <a:solidFill>
              <a:srgbClr val="EA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2212848" y="2249424"/>
            <a:ext cx="205761" cy="201168"/>
          </a:xfrm>
          <a:prstGeom prst="roundRect">
            <a:avLst>
              <a:gd fmla="val 27273" name="adj"/>
            </a:avLst>
          </a:prstGeom>
          <a:solidFill>
            <a:srgbClr val="18B97A"/>
          </a:solidFill>
          <a:ln cap="flat" cmpd="sng" w="12700">
            <a:solidFill>
              <a:srgbClr val="18B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5431536" y="2240280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39,803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6291072" y="224028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5.8%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1024128" y="2734056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616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9616B"/>
                </a:solidFill>
                <a:latin typeface="Noto Sans"/>
                <a:ea typeface="Noto Sans"/>
                <a:cs typeface="Noto Sans"/>
                <a:sym typeface="Noto Sans"/>
              </a:rPr>
              <a:t>관찰 (at-risk)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212848" y="2743200"/>
            <a:ext cx="3063240" cy="201168"/>
          </a:xfrm>
          <a:prstGeom prst="roundRect">
            <a:avLst>
              <a:gd fmla="val 27273" name="adj"/>
            </a:avLst>
          </a:prstGeom>
          <a:solidFill>
            <a:srgbClr val="EAF1F7"/>
          </a:solidFill>
          <a:ln cap="flat" cmpd="sng" w="12700">
            <a:solidFill>
              <a:srgbClr val="EA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2212848" y="2743200"/>
            <a:ext cx="3063240" cy="201168"/>
          </a:xfrm>
          <a:prstGeom prst="roundRect">
            <a:avLst>
              <a:gd fmla="val 27273" name="adj"/>
            </a:avLst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5431536" y="2734056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592,561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6291072" y="2734056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85.9%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1024128" y="3227832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616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9616B"/>
                </a:solidFill>
                <a:latin typeface="Noto Sans"/>
                <a:ea typeface="Noto Sans"/>
                <a:cs typeface="Noto Sans"/>
                <a:sym typeface="Noto Sans"/>
              </a:rPr>
              <a:t>위험 (unhealthy)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212848" y="3236976"/>
            <a:ext cx="3063240" cy="201168"/>
          </a:xfrm>
          <a:prstGeom prst="roundRect">
            <a:avLst>
              <a:gd fmla="val 27273" name="adj"/>
            </a:avLst>
          </a:prstGeom>
          <a:solidFill>
            <a:srgbClr val="EAF1F7"/>
          </a:solidFill>
          <a:ln cap="flat" cmpd="sng" w="12700">
            <a:solidFill>
              <a:srgbClr val="EA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2212848" y="3236976"/>
            <a:ext cx="298404" cy="201168"/>
          </a:xfrm>
          <a:prstGeom prst="roundRect">
            <a:avLst>
              <a:gd fmla="val 27273" name="adj"/>
            </a:avLst>
          </a:prstGeom>
          <a:solidFill>
            <a:srgbClr val="F0445E"/>
          </a:solidFill>
          <a:ln cap="flat" cmpd="sng" w="12700">
            <a:solidFill>
              <a:srgbClr val="F044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5431536" y="3227832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57,724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6291072" y="3227832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8.4%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10"/>
          <p:cNvCxnSpPr/>
          <p:nvPr/>
        </p:nvCxnSpPr>
        <p:spPr>
          <a:xfrm>
            <a:off x="969264" y="3718096"/>
            <a:ext cx="6016752" cy="0"/>
          </a:xfrm>
          <a:prstGeom prst="straightConnector1">
            <a:avLst/>
          </a:prstGeom>
          <a:noFill/>
          <a:ln cap="flat" cmpd="sng" w="12700">
            <a:solidFill>
              <a:srgbClr val="E6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10"/>
          <p:cNvSpPr/>
          <p:nvPr/>
        </p:nvSpPr>
        <p:spPr>
          <a:xfrm>
            <a:off x="987552" y="381053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91C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8191C"/>
                </a:solidFill>
                <a:latin typeface="Noto Sans"/>
                <a:ea typeface="Noto Sans"/>
                <a:cs typeface="Noto Sans"/>
                <a:sym typeface="Noto Sans"/>
              </a:rPr>
              <a:t>결측 현황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2048256" y="38105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13개 변수 전부 결측 존재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205574" y="3847108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1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B9198"/>
                </a:solidFill>
                <a:latin typeface="Noto Sans"/>
                <a:ea typeface="Noto Sans"/>
                <a:cs typeface="Noto Sans"/>
                <a:sym typeface="Noto Sans"/>
              </a:rPr>
              <a:t>1.0~12.0%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9" name="Google Shape;429;p10"/>
          <p:cNvGrpSpPr/>
          <p:nvPr/>
        </p:nvGrpSpPr>
        <p:grpSpPr>
          <a:xfrm>
            <a:off x="409601" y="4138027"/>
            <a:ext cx="6561206" cy="1713436"/>
            <a:chOff x="1024128" y="4462272"/>
            <a:chExt cx="5742432" cy="1499616"/>
          </a:xfrm>
        </p:grpSpPr>
        <p:sp>
          <p:nvSpPr>
            <p:cNvPr id="430" name="Google Shape;430;p10"/>
            <p:cNvSpPr/>
            <p:nvPr/>
          </p:nvSpPr>
          <p:spPr>
            <a:xfrm>
              <a:off x="1024128" y="4462272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스트레스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1993392" y="4475988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6327648" y="4462272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12.0%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1024128" y="4631436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수면시간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1993392" y="4645152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1993392" y="4645152"/>
              <a:ext cx="3872484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6327648" y="4631436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11.0%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1024128" y="4800600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수면의 질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1993392" y="4814316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1993392" y="4814316"/>
              <a:ext cx="2992374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6327648" y="4800600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8.5%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1024128" y="4969764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소모칼로리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1993392" y="4983480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1993392" y="4983480"/>
              <a:ext cx="2710739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6327648" y="4969764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7.7%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1024128" y="5138928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수분섭취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1993392" y="5152644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1993392" y="5152644"/>
              <a:ext cx="2217877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6327648" y="5138928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6.3%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1024128" y="5308092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활동수준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1993392" y="5321808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1993392" y="5321808"/>
              <a:ext cx="1865833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6327648" y="5308092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5.3%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1024128" y="5477256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흡연·음주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1993392" y="5490972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1993392" y="5490972"/>
              <a:ext cx="1443380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0"/>
            <p:cNvSpPr/>
            <p:nvPr/>
          </p:nvSpPr>
          <p:spPr>
            <a:xfrm>
              <a:off x="6327648" y="5477256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4.1%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0"/>
            <p:cNvSpPr/>
            <p:nvPr/>
          </p:nvSpPr>
          <p:spPr>
            <a:xfrm>
              <a:off x="1024128" y="5646420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성별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>
              <a:off x="1993392" y="5660136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0"/>
            <p:cNvSpPr/>
            <p:nvPr/>
          </p:nvSpPr>
          <p:spPr>
            <a:xfrm>
              <a:off x="1993392" y="5660136"/>
              <a:ext cx="1091336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0"/>
            <p:cNvSpPr/>
            <p:nvPr/>
          </p:nvSpPr>
          <p:spPr>
            <a:xfrm>
              <a:off x="6327648" y="5646420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3.1%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>
              <a:off x="1024128" y="5815584"/>
              <a:ext cx="8595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59616B"/>
                </a:buClr>
                <a:buSzPts val="680"/>
                <a:buFont typeface="Noto Sans"/>
                <a:buNone/>
              </a:pPr>
              <a:r>
                <a:rPr b="0" i="0" lang="en-US" sz="680" u="none" cap="none" strike="noStrike">
                  <a:solidFill>
                    <a:srgbClr val="59616B"/>
                  </a:solidFill>
                  <a:latin typeface="Noto Sans"/>
                  <a:ea typeface="Noto Sans"/>
                  <a:cs typeface="Noto Sans"/>
                  <a:sym typeface="Noto Sans"/>
                </a:rPr>
                <a:t>걸음수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>
              <a:off x="1993392" y="5829300"/>
              <a:ext cx="4224528" cy="96012"/>
            </a:xfrm>
            <a:prstGeom prst="roundRect">
              <a:avLst>
                <a:gd fmla="val 28571" name="adj"/>
              </a:avLst>
            </a:prstGeom>
            <a:solidFill>
              <a:srgbClr val="EAF1F7"/>
            </a:solidFill>
            <a:ln cap="flat" cmpd="sng" w="12700">
              <a:solidFill>
                <a:srgbClr val="EAF1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0"/>
            <p:cNvSpPr/>
            <p:nvPr/>
          </p:nvSpPr>
          <p:spPr>
            <a:xfrm>
              <a:off x="1993392" y="5829300"/>
              <a:ext cx="704088" cy="96012"/>
            </a:xfrm>
            <a:prstGeom prst="roundRect">
              <a:avLst>
                <a:gd fmla="val 28571" name="adj"/>
              </a:avLst>
            </a:prstGeom>
            <a:solidFill>
              <a:srgbClr val="3D8DFF"/>
            </a:solidFill>
            <a:ln cap="flat" cmpd="sng" w="12700">
              <a:solidFill>
                <a:srgbClr val="3D8D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0"/>
            <p:cNvSpPr/>
            <p:nvPr/>
          </p:nvSpPr>
          <p:spPr>
            <a:xfrm>
              <a:off x="6327648" y="5815584"/>
              <a:ext cx="438912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2F3237"/>
                </a:buClr>
                <a:buSzPts val="680"/>
                <a:buFont typeface="Noto Sans"/>
                <a:buNone/>
              </a:pPr>
              <a:r>
                <a:rPr b="1" i="0" lang="en-US" sz="680" u="none" cap="none" strike="noStrike">
                  <a:solidFill>
                    <a:srgbClr val="2F3237"/>
                  </a:solidFill>
                  <a:latin typeface="Noto Sans"/>
                  <a:ea typeface="Noto Sans"/>
                  <a:cs typeface="Noto Sans"/>
                  <a:sym typeface="Noto Sans"/>
                </a:rPr>
                <a:t>2.0%</a:t>
              </a:r>
              <a:endParaRPr b="0" i="0" sz="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5" name="Google Shape;465;p10"/>
          <p:cNvSpPr/>
          <p:nvPr/>
        </p:nvSpPr>
        <p:spPr>
          <a:xfrm>
            <a:off x="5980176" y="5928128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198"/>
              </a:buClr>
              <a:buSzPts val="630"/>
              <a:buFont typeface="Noto Sans"/>
              <a:buNone/>
            </a:pPr>
            <a:r>
              <a:rPr b="0" i="0" lang="en-US" sz="630" u="none" cap="none" strike="noStrike">
                <a:solidFill>
                  <a:srgbClr val="8B9198"/>
                </a:solidFill>
                <a:latin typeface="Noto Sans"/>
                <a:ea typeface="Noto Sans"/>
                <a:cs typeface="Noto Sans"/>
                <a:sym typeface="Noto Sans"/>
              </a:rPr>
              <a:t>※ 결측률 상위 9개 변수 표시</a:t>
            </a:r>
            <a:endParaRPr b="0" i="0" sz="6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7918704" y="174650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91C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8191C"/>
                </a:solidFill>
                <a:latin typeface="Noto Sans"/>
                <a:ea typeface="Noto Sans"/>
                <a:cs typeface="Noto Sans"/>
                <a:sym typeface="Noto Sans"/>
              </a:rPr>
              <a:t>전처리 요약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7909560" y="2212848"/>
            <a:ext cx="1069848" cy="329184"/>
          </a:xfrm>
          <a:prstGeom prst="roundRect">
            <a:avLst>
              <a:gd fmla="val 33333" name="adj"/>
            </a:avLst>
          </a:prstGeom>
          <a:solidFill>
            <a:srgbClr val="E7F3FF"/>
          </a:solidFill>
          <a:ln cap="flat" cmpd="sng" w="12700">
            <a:solidFill>
              <a:srgbClr val="E7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7936992" y="2226564"/>
            <a:ext cx="10149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4FF"/>
              </a:buClr>
              <a:buSzPts val="820"/>
              <a:buFont typeface="Noto Sans"/>
              <a:buNone/>
            </a:pPr>
            <a:r>
              <a:rPr b="1" i="0" lang="en-US" sz="820" u="none" cap="none" strike="noStrike">
                <a:solidFill>
                  <a:srgbClr val="1684FF"/>
                </a:solidFill>
                <a:latin typeface="Noto Sans"/>
                <a:ea typeface="Noto Sans"/>
                <a:cs typeface="Noto Sans"/>
                <a:sym typeface="Noto Sans"/>
              </a:rPr>
              <a:t>결측 처리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9125712" y="2194560"/>
            <a:ext cx="204825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수치=중앙값 대치 / 범주=결측 토큰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· 부스팅 native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7909560" y="2852928"/>
            <a:ext cx="1069848" cy="329184"/>
          </a:xfrm>
          <a:prstGeom prst="roundRect">
            <a:avLst>
              <a:gd fmla="val 33333" name="adj"/>
            </a:avLst>
          </a:prstGeom>
          <a:solidFill>
            <a:srgbClr val="E7F3FF"/>
          </a:solidFill>
          <a:ln cap="flat" cmpd="sng" w="12700">
            <a:solidFill>
              <a:srgbClr val="E7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7936992" y="2866644"/>
            <a:ext cx="10149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4FF"/>
              </a:buClr>
              <a:buSzPts val="820"/>
              <a:buFont typeface="Noto Sans"/>
              <a:buNone/>
            </a:pPr>
            <a:r>
              <a:rPr b="1" i="0" lang="en-US" sz="820" u="none" cap="none" strike="noStrike">
                <a:solidFill>
                  <a:srgbClr val="1684FF"/>
                </a:solidFill>
                <a:latin typeface="Noto Sans"/>
                <a:ea typeface="Noto Sans"/>
                <a:cs typeface="Noto Sans"/>
                <a:sym typeface="Noto Sans"/>
              </a:rPr>
              <a:t>인코딩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9125712" y="2834640"/>
            <a:ext cx="204825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One-Hot / 트리계열 폴드-로컬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타깃 인코딩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7909560" y="3493008"/>
            <a:ext cx="1069848" cy="329184"/>
          </a:xfrm>
          <a:prstGeom prst="roundRect">
            <a:avLst>
              <a:gd fmla="val 33333" name="adj"/>
            </a:avLst>
          </a:prstGeom>
          <a:solidFill>
            <a:srgbClr val="E7F3FF"/>
          </a:solidFill>
          <a:ln cap="flat" cmpd="sng" w="12700">
            <a:solidFill>
              <a:srgbClr val="E7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7936992" y="3506724"/>
            <a:ext cx="10149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4FF"/>
              </a:buClr>
              <a:buSzPts val="820"/>
              <a:buFont typeface="Noto Sans"/>
              <a:buNone/>
            </a:pPr>
            <a:r>
              <a:rPr b="1" i="0" lang="en-US" sz="820" u="none" cap="none" strike="noStrike">
                <a:solidFill>
                  <a:srgbClr val="1684FF"/>
                </a:solidFill>
                <a:latin typeface="Noto Sans"/>
                <a:ea typeface="Noto Sans"/>
                <a:cs typeface="Noto Sans"/>
                <a:sym typeface="Noto Sans"/>
              </a:rPr>
              <a:t>스케일링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9125712" y="3474720"/>
            <a:ext cx="204825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선형·MLP는 StandardScaler /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부스팅 원본 유지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7909560" y="4133088"/>
            <a:ext cx="1069848" cy="329184"/>
          </a:xfrm>
          <a:prstGeom prst="roundRect">
            <a:avLst>
              <a:gd fmla="val 33333" name="adj"/>
            </a:avLst>
          </a:prstGeom>
          <a:solidFill>
            <a:srgbClr val="E7F3FF"/>
          </a:solidFill>
          <a:ln cap="flat" cmpd="sng" w="12700">
            <a:solidFill>
              <a:srgbClr val="E7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7936992" y="4146804"/>
            <a:ext cx="10149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4FF"/>
              </a:buClr>
              <a:buSzPts val="820"/>
              <a:buFont typeface="Noto Sans"/>
              <a:buNone/>
            </a:pPr>
            <a:r>
              <a:rPr b="1" i="0" lang="en-US" sz="820" u="none" cap="none" strike="noStrike">
                <a:solidFill>
                  <a:srgbClr val="1684FF"/>
                </a:solidFill>
                <a:latin typeface="Noto Sans"/>
                <a:ea typeface="Noto Sans"/>
                <a:cs typeface="Noto Sans"/>
                <a:sym typeface="Noto Sans"/>
              </a:rPr>
              <a:t>불균형 대응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9125712" y="4114800"/>
            <a:ext cx="204825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class_weight='balanced' ·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균형 샘플 가중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7909560" y="4773168"/>
            <a:ext cx="1069848" cy="329184"/>
          </a:xfrm>
          <a:prstGeom prst="roundRect">
            <a:avLst>
              <a:gd fmla="val 33333" name="adj"/>
            </a:avLst>
          </a:prstGeom>
          <a:solidFill>
            <a:srgbClr val="E7F3FF"/>
          </a:solidFill>
          <a:ln cap="flat" cmpd="sng" w="12700">
            <a:solidFill>
              <a:srgbClr val="E7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7936992" y="4786884"/>
            <a:ext cx="10149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4FF"/>
              </a:buClr>
              <a:buSzPts val="820"/>
              <a:buFont typeface="Noto Sans"/>
              <a:buNone/>
            </a:pPr>
            <a:r>
              <a:rPr b="1" i="0" lang="en-US" sz="820" u="none" cap="none" strike="noStrike">
                <a:solidFill>
                  <a:srgbClr val="1684FF"/>
                </a:solidFill>
                <a:latin typeface="Noto Sans"/>
                <a:ea typeface="Noto Sans"/>
                <a:cs typeface="Noto Sans"/>
                <a:sym typeface="Noto Sans"/>
              </a:rPr>
              <a:t>샘플링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9125712" y="4754880"/>
            <a:ext cx="204825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6만행 층화표집(48k/12k)으로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공정 비교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7909560" y="5413248"/>
            <a:ext cx="1069848" cy="329184"/>
          </a:xfrm>
          <a:prstGeom prst="roundRect">
            <a:avLst>
              <a:gd fmla="val 33333" name="adj"/>
            </a:avLst>
          </a:prstGeom>
          <a:solidFill>
            <a:srgbClr val="E7F3FF"/>
          </a:solidFill>
          <a:ln cap="flat" cmpd="sng" w="12700">
            <a:solidFill>
              <a:srgbClr val="E7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0"/>
          <p:cNvSpPr/>
          <p:nvPr/>
        </p:nvSpPr>
        <p:spPr>
          <a:xfrm>
            <a:off x="7936992" y="5426964"/>
            <a:ext cx="10149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4FF"/>
              </a:buClr>
              <a:buSzPts val="820"/>
              <a:buFont typeface="Noto Sans"/>
              <a:buNone/>
            </a:pPr>
            <a:r>
              <a:rPr b="1" i="0" lang="en-US" sz="820" u="none" cap="none" strike="noStrike">
                <a:solidFill>
                  <a:srgbClr val="1684FF"/>
                </a:solidFill>
                <a:latin typeface="Noto Sans"/>
                <a:ea typeface="Noto Sans"/>
                <a:cs typeface="Noto Sans"/>
                <a:sym typeface="Noto Sans"/>
              </a:rPr>
              <a:t>누수 차단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9125712" y="5394960"/>
            <a:ext cx="204825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id 제외 · 폴드-로컬 인코딩으로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237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F3237"/>
                </a:solidFill>
                <a:latin typeface="Noto Sans"/>
                <a:ea typeface="Noto Sans"/>
                <a:cs typeface="Noto Sans"/>
                <a:sym typeface="Noto Sans"/>
              </a:rPr>
              <a:t>라벨 누수 방지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4 · 머신러닝 수행</a:t>
            </a:r>
            <a:endParaRPr/>
          </a:p>
        </p:txBody>
      </p:sp>
      <p:sp>
        <p:nvSpPr>
          <p:cNvPr id="491" name="Google Shape;491;p11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EDA — 통계 검정 (시각화 + 검정)</a:t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777240" y="1554480"/>
            <a:ext cx="6766560" cy="4480560"/>
          </a:xfrm>
          <a:prstGeom prst="roundRect">
            <a:avLst>
              <a:gd fmla="val 448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1143000" y="1810512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변수–회복등급 연관성 효과크기 (13개 전부 p&lt;0.001)</a:t>
            </a:r>
            <a:endParaRPr/>
          </a:p>
        </p:txBody>
      </p:sp>
      <p:pic>
        <p:nvPicPr>
          <p:cNvPr descr="effect.png" id="494" name="Google Shape;4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986" y="2213385"/>
            <a:ext cx="6126480" cy="3705503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"/>
          <p:cNvSpPr/>
          <p:nvPr/>
        </p:nvSpPr>
        <p:spPr>
          <a:xfrm>
            <a:off x="7909559" y="1554480"/>
            <a:ext cx="3504895" cy="4480560"/>
          </a:xfrm>
          <a:prstGeom prst="roundRect">
            <a:avLst>
              <a:gd fmla="val 573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 txBox="1"/>
          <p:nvPr/>
        </p:nvSpPr>
        <p:spPr>
          <a:xfrm>
            <a:off x="8194635" y="1775010"/>
            <a:ext cx="27733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장표 설명</a:t>
            </a:r>
            <a:endParaRPr b="1" i="0" sz="135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7" name="Google Shape;497;p11"/>
          <p:cNvGrpSpPr/>
          <p:nvPr/>
        </p:nvGrpSpPr>
        <p:grpSpPr>
          <a:xfrm>
            <a:off x="8194635" y="3229569"/>
            <a:ext cx="2957101" cy="724686"/>
            <a:chOff x="8186028" y="3304385"/>
            <a:chExt cx="2957101" cy="724686"/>
          </a:xfrm>
        </p:grpSpPr>
        <p:sp>
          <p:nvSpPr>
            <p:cNvPr id="498" name="Google Shape;498;p11"/>
            <p:cNvSpPr/>
            <p:nvPr/>
          </p:nvSpPr>
          <p:spPr>
            <a:xfrm>
              <a:off x="8186028" y="3423257"/>
              <a:ext cx="109728" cy="109728"/>
            </a:xfrm>
            <a:prstGeom prst="ellipse">
              <a:avLst/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1"/>
            <p:cNvSpPr txBox="1"/>
            <p:nvPr/>
          </p:nvSpPr>
          <p:spPr>
            <a:xfrm>
              <a:off x="8460348" y="3304385"/>
              <a:ext cx="2682781" cy="7246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스트레스(V=0.41) · 활동수준(V=0.24) · 수면시간(ε²=0.19)이 회복등급과 가장 강하게 연관.</a:t>
              </a:r>
              <a:endParaRPr/>
            </a:p>
          </p:txBody>
        </p:sp>
      </p:grpSp>
      <p:grpSp>
        <p:nvGrpSpPr>
          <p:cNvPr id="500" name="Google Shape;500;p11"/>
          <p:cNvGrpSpPr/>
          <p:nvPr/>
        </p:nvGrpSpPr>
        <p:grpSpPr>
          <a:xfrm>
            <a:off x="8183455" y="4113178"/>
            <a:ext cx="2957101" cy="724686"/>
            <a:chOff x="8186028" y="4447385"/>
            <a:chExt cx="2957101" cy="724686"/>
          </a:xfrm>
        </p:grpSpPr>
        <p:sp>
          <p:nvSpPr>
            <p:cNvPr id="501" name="Google Shape;501;p11"/>
            <p:cNvSpPr/>
            <p:nvPr/>
          </p:nvSpPr>
          <p:spPr>
            <a:xfrm>
              <a:off x="8186028" y="4566257"/>
              <a:ext cx="109728" cy="109728"/>
            </a:xfrm>
            <a:prstGeom prst="ellipse">
              <a:avLst/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1"/>
            <p:cNvSpPr txBox="1"/>
            <p:nvPr/>
          </p:nvSpPr>
          <p:spPr>
            <a:xfrm>
              <a:off x="8460348" y="4447385"/>
              <a:ext cx="2682781" cy="7246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수분섭취는 p=0.543으로 유일하게 유의하지 않아 이후 저중요 변수로 재확인(순열중요도도 음수).</a:t>
              </a:r>
              <a:endParaRPr/>
            </a:p>
          </p:txBody>
        </p:sp>
      </p:grpSp>
      <p:sp>
        <p:nvSpPr>
          <p:cNvPr id="503" name="Google Shape;503;p11"/>
          <p:cNvSpPr/>
          <p:nvPr/>
        </p:nvSpPr>
        <p:spPr>
          <a:xfrm>
            <a:off x="8194635" y="5236104"/>
            <a:ext cx="2948493" cy="594360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 txBox="1"/>
          <p:nvPr/>
        </p:nvSpPr>
        <p:spPr>
          <a:xfrm>
            <a:off x="8234977" y="5414903"/>
            <a:ext cx="2867809" cy="202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«스트레스·수면·활동»</a:t>
            </a:r>
            <a:r>
              <a:rPr b="1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이 회복의 핵심 축</a:t>
            </a:r>
            <a:endParaRPr/>
          </a:p>
        </p:txBody>
      </p:sp>
      <p:sp>
        <p:nvSpPr>
          <p:cNvPr id="505" name="Google Shape;505;p11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6" name="Google Shape;506;p11"/>
          <p:cNvGrpSpPr/>
          <p:nvPr/>
        </p:nvGrpSpPr>
        <p:grpSpPr>
          <a:xfrm>
            <a:off x="8186028" y="2375743"/>
            <a:ext cx="2957100" cy="724686"/>
            <a:chOff x="8186028" y="2161385"/>
            <a:chExt cx="2957100" cy="724686"/>
          </a:xfrm>
        </p:grpSpPr>
        <p:sp>
          <p:nvSpPr>
            <p:cNvPr id="507" name="Google Shape;507;p11"/>
            <p:cNvSpPr txBox="1"/>
            <p:nvPr/>
          </p:nvSpPr>
          <p:spPr>
            <a:xfrm>
              <a:off x="8460347" y="2161385"/>
              <a:ext cx="2682781" cy="7246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범주형은 카이제곱(Cramér's V), 수치형은 Kruskal-Wallis(ε²)로 13개 변수 전부 검정.</a:t>
              </a:r>
              <a:endParaRPr/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8186028" y="2239111"/>
              <a:ext cx="109728" cy="109728"/>
            </a:xfrm>
            <a:prstGeom prst="ellipse">
              <a:avLst/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4 · 머신러닝 수행</a:t>
            </a:r>
            <a:endParaRPr/>
          </a:p>
        </p:txBody>
      </p:sp>
      <p:sp>
        <p:nvSpPr>
          <p:cNvPr id="515" name="Google Shape;515;p12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파생변수 설계 — «회복부채»라는 관점</a:t>
            </a:r>
            <a:endParaRPr/>
          </a:p>
        </p:txBody>
      </p:sp>
      <p:sp>
        <p:nvSpPr>
          <p:cNvPr id="516" name="Google Shape;516;p12"/>
          <p:cNvSpPr txBox="1"/>
          <p:nvPr/>
        </p:nvSpPr>
        <p:spPr>
          <a:xfrm>
            <a:off x="777240" y="1463040"/>
            <a:ext cx="10637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은행의 «부채»처럼 회복을 갉아먹는 요소를 합성해 </a:t>
            </a: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원본 13개 → 35개</a:t>
            </a: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로 확장 (HGB 기준 +0.00028, 동일 7-fold)</a:t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777240" y="2148840"/>
            <a:ext cx="10637215" cy="3657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8" name="Google Shape;518;p12"/>
          <p:cNvGraphicFramePr/>
          <p:nvPr/>
        </p:nvGraphicFramePr>
        <p:xfrm>
          <a:off x="1143000" y="2369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{3D413E08-6C14-4CC6-983C-5C12EF847440}</a:tableStyleId>
              </a:tblPr>
              <a:tblGrid>
                <a:gridCol w="3100925"/>
                <a:gridCol w="4306825"/>
                <a:gridCol w="24979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파생변수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정의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의미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sleep_deficit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max(7 − 수면, 0)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수면 부족분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sleep_stress_interaction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수면부족 × 스트레스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부채의 상호작용</a:t>
                      </a:r>
                      <a:endParaRPr b="0" sz="1200" u="none" cap="none" strike="noStrike">
                        <a:solidFill>
                          <a:srgbClr val="333D4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recovery_deficit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스트레스 + 수면부족 + (2 − 수면질)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종합 «회복부채»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activity_volume</a:t>
                      </a:r>
                      <a:endParaRPr b="1" sz="1200" u="none" cap="none" strike="noStrike">
                        <a:solidFill>
                          <a:srgbClr val="333D4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걸음수 × 운동시간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활동 총량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*_freq (7종)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train+test 값빈도 (타깃-free)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희소값 안정화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bmi_distance_healthy</a:t>
                      </a:r>
                      <a:endParaRPr b="1" sz="1200" u="none" cap="none" strike="noStrike">
                        <a:solidFill>
                          <a:srgbClr val="333D4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정상 BMI(18.5–24.9) 이탈거리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체형 리스크</a:t>
                      </a:r>
                      <a:endParaRPr b="0" sz="1200" u="none" cap="none" strike="noStrike">
                        <a:solidFill>
                          <a:srgbClr val="333D4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519" name="Google Shape;519;p12"/>
          <p:cNvSpPr txBox="1"/>
          <p:nvPr/>
        </p:nvSpPr>
        <p:spPr>
          <a:xfrm>
            <a:off x="1143000" y="5510610"/>
            <a:ext cx="9905695" cy="161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※ 값빈도는 타깃을 보지 않아 누수가 아니며, 폴드-로컬 타깃인코딩으로 라벨 누수를 차단.</a:t>
            </a:r>
            <a:endParaRPr/>
          </a:p>
        </p:txBody>
      </p:sp>
      <p:sp>
        <p:nvSpPr>
          <p:cNvPr id="520" name="Google Shape;520;p12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3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4 · 머신러닝 수행</a:t>
            </a:r>
            <a:endParaRPr/>
          </a:p>
        </p:txBody>
      </p:sp>
      <p:sp>
        <p:nvSpPr>
          <p:cNvPr id="527" name="Google Shape;527;p13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머신러닝 모델 비교 — 12종 (샘플 6만행)</a:t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777240" y="1554480"/>
            <a:ext cx="6309360" cy="4480560"/>
          </a:xfrm>
          <a:prstGeom prst="roundRect">
            <a:avLst>
              <a:gd fmla="val 448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 txBox="1"/>
          <p:nvPr/>
        </p:nvSpPr>
        <p:spPr>
          <a:xfrm>
            <a:off x="1143000" y="1810512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검증 Balanced Accuracy 순위</a:t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7452360" y="1554480"/>
            <a:ext cx="3962095" cy="4480560"/>
          </a:xfrm>
          <a:prstGeom prst="roundRect">
            <a:avLst>
              <a:gd fmla="val 5077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 txBox="1"/>
          <p:nvPr/>
        </p:nvSpPr>
        <p:spPr>
          <a:xfrm>
            <a:off x="7818120" y="1828800"/>
            <a:ext cx="32305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상위 3종 · 교차검증 재확인</a:t>
            </a:r>
            <a:endParaRPr/>
          </a:p>
        </p:txBody>
      </p:sp>
      <p:graphicFrame>
        <p:nvGraphicFramePr>
          <p:cNvPr id="532" name="Google Shape;532;p13"/>
          <p:cNvGraphicFramePr/>
          <p:nvPr/>
        </p:nvGraphicFramePr>
        <p:xfrm>
          <a:off x="7637929" y="2197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{3D413E08-6C14-4CC6-983C-5C12EF847440}</a:tableStyleId>
              </a:tblPr>
              <a:tblGrid>
                <a:gridCol w="1568825"/>
                <a:gridCol w="824750"/>
                <a:gridCol w="618575"/>
                <a:gridCol w="600625"/>
              </a:tblGrid>
              <a:tr h="32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5-fold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±std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시간</a:t>
                      </a:r>
                      <a:endParaRPr b="1" sz="105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hist_gradient_boosting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0.9493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0.0035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7.90s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0.9449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0.0039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4.49s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0.9354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0.0057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7.71s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33" name="Google Shape;533;p13"/>
          <p:cNvGrpSpPr/>
          <p:nvPr/>
        </p:nvGrpSpPr>
        <p:grpSpPr>
          <a:xfrm>
            <a:off x="7836408" y="3956129"/>
            <a:ext cx="3230575" cy="440120"/>
            <a:chOff x="7836408" y="4251960"/>
            <a:chExt cx="3230575" cy="440120"/>
          </a:xfrm>
        </p:grpSpPr>
        <p:sp>
          <p:nvSpPr>
            <p:cNvPr id="534" name="Google Shape;534;p13"/>
            <p:cNvSpPr/>
            <p:nvPr/>
          </p:nvSpPr>
          <p:spPr>
            <a:xfrm>
              <a:off x="7836408" y="4370832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3"/>
            <p:cNvSpPr txBox="1"/>
            <p:nvPr/>
          </p:nvSpPr>
          <p:spPr>
            <a:xfrm>
              <a:off x="8110728" y="4251960"/>
              <a:ext cx="2956255" cy="44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5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부스팅 3종(HGB·CatBoost·LightGBM)이</a:t>
              </a:r>
              <a:endParaRPr b="1" i="0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5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성능·속도 스윗스팟에 위치.</a:t>
              </a:r>
              <a:endParaRPr/>
            </a:p>
          </p:txBody>
        </p:sp>
      </p:grpSp>
      <p:grpSp>
        <p:nvGrpSpPr>
          <p:cNvPr id="536" name="Google Shape;536;p13"/>
          <p:cNvGrpSpPr/>
          <p:nvPr/>
        </p:nvGrpSpPr>
        <p:grpSpPr>
          <a:xfrm>
            <a:off x="7836408" y="4600688"/>
            <a:ext cx="3230575" cy="822960"/>
            <a:chOff x="7836408" y="5120640"/>
            <a:chExt cx="3230575" cy="822960"/>
          </a:xfrm>
        </p:grpSpPr>
        <p:sp>
          <p:nvSpPr>
            <p:cNvPr id="537" name="Google Shape;537;p13"/>
            <p:cNvSpPr/>
            <p:nvPr/>
          </p:nvSpPr>
          <p:spPr>
            <a:xfrm>
              <a:off x="7836408" y="5239512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3"/>
            <p:cNvSpPr txBox="1"/>
            <p:nvPr/>
          </p:nvSpPr>
          <p:spPr>
            <a:xfrm>
              <a:off x="8110728" y="5120640"/>
              <a:ext cx="2956255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HistGradientBoosting이 5-fold 0.9493으로 최고·안정 → 스태킹 핵심 base.</a:t>
              </a:r>
              <a:endParaRPr/>
            </a:p>
          </p:txBody>
        </p:sp>
      </p:grpSp>
      <p:grpSp>
        <p:nvGrpSpPr>
          <p:cNvPr id="539" name="Google Shape;539;p13"/>
          <p:cNvGrpSpPr/>
          <p:nvPr/>
        </p:nvGrpSpPr>
        <p:grpSpPr>
          <a:xfrm>
            <a:off x="7836408" y="5256929"/>
            <a:ext cx="3230575" cy="440120"/>
            <a:chOff x="7836408" y="5989320"/>
            <a:chExt cx="3230575" cy="440120"/>
          </a:xfrm>
        </p:grpSpPr>
        <p:sp>
          <p:nvSpPr>
            <p:cNvPr id="540" name="Google Shape;540;p13"/>
            <p:cNvSpPr/>
            <p:nvPr/>
          </p:nvSpPr>
          <p:spPr>
            <a:xfrm>
              <a:off x="7836408" y="6108192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3"/>
            <p:cNvSpPr txBox="1"/>
            <p:nvPr/>
          </p:nvSpPr>
          <p:spPr>
            <a:xfrm>
              <a:off x="8110728" y="5989320"/>
              <a:ext cx="2956255" cy="44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CatBoost·LightGBM은 서로 다른 편향을 더해</a:t>
              </a:r>
              <a:endParaRPr b="0" i="0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앙상블 다양성을 확보.</a:t>
              </a:r>
              <a:endParaRPr/>
            </a:p>
          </p:txBody>
        </p:sp>
      </p:grpSp>
      <p:sp>
        <p:nvSpPr>
          <p:cNvPr id="542" name="Google Shape;542;p13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311" y="2168483"/>
            <a:ext cx="5957567" cy="3598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4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4 · 머신러닝 수행</a:t>
            </a:r>
            <a:endParaRPr/>
          </a:p>
        </p:txBody>
      </p:sp>
      <p:sp>
        <p:nvSpPr>
          <p:cNvPr id="550" name="Google Shape;550;p14"/>
          <p:cNvSpPr txBox="1"/>
          <p:nvPr/>
        </p:nvSpPr>
        <p:spPr>
          <a:xfrm>
            <a:off x="777240" y="885825"/>
            <a:ext cx="1063721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 i="0" u="none" strike="noStrike" cap="non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시간 대비 성능 — </a:t>
            </a:r>
            <a:r>
              <a:rPr lang="ko-KR" altLang="en-US" sz="2700" b="1" i="0" u="none" strike="noStrike" cap="non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좌</a:t>
            </a:r>
            <a:r>
              <a:rPr lang="en-US" sz="2700" b="1" i="0" u="none" strike="noStrike" cap="non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상단 스윗스팟</a:t>
            </a:r>
            <a:endParaRPr lang="en-US" sz="2700" b="1" i="0" u="none" strike="noStrike" cap="non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777240" y="1554480"/>
            <a:ext cx="7589520" cy="4480560"/>
          </a:xfrm>
          <a:prstGeom prst="roundRect">
            <a:avLst>
              <a:gd fmla="val 448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atter.png" id="552" name="Google Shape;5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874519"/>
            <a:ext cx="6949440" cy="4214104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4"/>
          <p:cNvSpPr/>
          <p:nvPr/>
        </p:nvSpPr>
        <p:spPr>
          <a:xfrm>
            <a:off x="8732520" y="1554480"/>
            <a:ext cx="2681935" cy="448056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 txBox="1"/>
          <p:nvPr/>
        </p:nvSpPr>
        <p:spPr>
          <a:xfrm>
            <a:off x="9098280" y="1828800"/>
            <a:ext cx="1950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장표 설명</a:t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9116568" y="2496312"/>
            <a:ext cx="109728" cy="109728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 txBox="1"/>
          <p:nvPr/>
        </p:nvSpPr>
        <p:spPr>
          <a:xfrm>
            <a:off x="9390888" y="2377440"/>
            <a:ext cx="1676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우상단일수록 «빠르면서 정확». 부스팅 3종이 스윗스팟에 위치.</a:t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9116568" y="3410712"/>
            <a:ext cx="109728" cy="109728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 txBox="1"/>
          <p:nvPr/>
        </p:nvSpPr>
        <p:spPr>
          <a:xfrm>
            <a:off x="9390888" y="3291840"/>
            <a:ext cx="1676095" cy="45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gradient_boosting은</a:t>
            </a:r>
            <a:endParaRPr b="0" i="0" sz="118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정확하지만 8.5초로 느림.</a:t>
            </a: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9116568" y="4325112"/>
            <a:ext cx="109728" cy="109728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 txBox="1"/>
          <p:nvPr/>
        </p:nvSpPr>
        <p:spPr>
          <a:xfrm>
            <a:off x="9390888" y="4206240"/>
            <a:ext cx="1676095" cy="461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180" b="0" i="0" u="none" strike="noStrike" cap="non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180" b="0" i="0" u="none" strike="noStrike" cap="non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NN은 예측이 느리고</a:t>
            </a:r>
            <a:endParaRPr lang="en-US" sz="1180" b="0" i="0" u="none" strike="noStrike" cap="non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80" b="0" i="0" u="none" strike="noStrike" cap="non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성능도 최저.</a:t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9116568" y="5239512"/>
            <a:ext cx="109728" cy="109728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 txBox="1"/>
          <p:nvPr/>
        </p:nvSpPr>
        <p:spPr>
          <a:xfrm>
            <a:off x="9390888" y="5120640"/>
            <a:ext cx="1676095" cy="45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→ 시간·성능 종합 시</a:t>
            </a:r>
            <a:endParaRPr b="1" i="0" sz="118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부스팅 3종이 최적.</a:t>
            </a:r>
            <a:endParaRPr/>
          </a:p>
        </p:txBody>
      </p:sp>
      <p:sp>
        <p:nvSpPr>
          <p:cNvPr id="563" name="Google Shape;563;p14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6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5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4 · 머신러닝 수행</a:t>
            </a:r>
            <a:endParaRPr/>
          </a:p>
        </p:txBody>
      </p:sp>
      <p:sp>
        <p:nvSpPr>
          <p:cNvPr id="570" name="Google Shape;570;p15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머신러닝 아키텍처 — V6 5-base 스태킹</a:t>
            </a: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777240" y="1600200"/>
            <a:ext cx="1761683" cy="1371600"/>
          </a:xfrm>
          <a:prstGeom prst="roundRect">
            <a:avLst>
              <a:gd fmla="val 12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 txBox="1"/>
          <p:nvPr/>
        </p:nvSpPr>
        <p:spPr>
          <a:xfrm>
            <a:off x="868680" y="1873088"/>
            <a:ext cx="157880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 b="1" i="0" sz="1400" u="none" cap="none" strike="noStrike">
              <a:solidFill>
                <a:srgbClr val="31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5"/>
          <p:cNvSpPr txBox="1"/>
          <p:nvPr/>
        </p:nvSpPr>
        <p:spPr>
          <a:xfrm>
            <a:off x="868680" y="2293712"/>
            <a:ext cx="15788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생활데이터 13변수</a:t>
            </a:r>
            <a:endParaRPr/>
          </a:p>
        </p:txBody>
      </p:sp>
      <p:sp>
        <p:nvSpPr>
          <p:cNvPr id="574" name="Google Shape;574;p15"/>
          <p:cNvSpPr txBox="1"/>
          <p:nvPr/>
        </p:nvSpPr>
        <p:spPr>
          <a:xfrm>
            <a:off x="2557211" y="1600200"/>
            <a:ext cx="42062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2996123" y="1600200"/>
            <a:ext cx="1761683" cy="1371600"/>
          </a:xfrm>
          <a:prstGeom prst="roundRect">
            <a:avLst>
              <a:gd fmla="val 12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 txBox="1"/>
          <p:nvPr/>
        </p:nvSpPr>
        <p:spPr>
          <a:xfrm>
            <a:off x="3087563" y="1873088"/>
            <a:ext cx="157880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전처리</a:t>
            </a:r>
            <a:endParaRPr/>
          </a:p>
        </p:txBody>
      </p:sp>
      <p:sp>
        <p:nvSpPr>
          <p:cNvPr id="577" name="Google Shape;577;p15"/>
          <p:cNvSpPr txBox="1"/>
          <p:nvPr/>
        </p:nvSpPr>
        <p:spPr>
          <a:xfrm>
            <a:off x="3087563" y="2293712"/>
            <a:ext cx="15788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결측·인코딩·파생 35개</a:t>
            </a:r>
            <a:endParaRPr/>
          </a:p>
        </p:txBody>
      </p:sp>
      <p:sp>
        <p:nvSpPr>
          <p:cNvPr id="578" name="Google Shape;578;p15"/>
          <p:cNvSpPr txBox="1"/>
          <p:nvPr/>
        </p:nvSpPr>
        <p:spPr>
          <a:xfrm>
            <a:off x="4776094" y="1600200"/>
            <a:ext cx="42062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5215006" y="1600200"/>
            <a:ext cx="1761683" cy="1371600"/>
          </a:xfrm>
          <a:prstGeom prst="roundRect">
            <a:avLst>
              <a:gd fmla="val 12000" name="adj"/>
            </a:avLst>
          </a:prstGeom>
          <a:solidFill>
            <a:srgbClr val="191F28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 txBox="1"/>
          <p:nvPr/>
        </p:nvSpPr>
        <p:spPr>
          <a:xfrm>
            <a:off x="5306446" y="1873088"/>
            <a:ext cx="157880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5종</a:t>
            </a:r>
            <a:endParaRPr/>
          </a:p>
        </p:txBody>
      </p:sp>
      <p:sp>
        <p:nvSpPr>
          <p:cNvPr id="581" name="Google Shape;581;p15"/>
          <p:cNvSpPr txBox="1"/>
          <p:nvPr/>
        </p:nvSpPr>
        <p:spPr>
          <a:xfrm>
            <a:off x="5306446" y="2293712"/>
            <a:ext cx="15788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DE7F5"/>
                </a:solidFill>
                <a:latin typeface="Arial"/>
                <a:ea typeface="Arial"/>
                <a:cs typeface="Arial"/>
                <a:sym typeface="Arial"/>
              </a:rPr>
              <a:t>RealMLP·HGB×3·LGBM</a:t>
            </a:r>
            <a:br>
              <a:rPr b="0" i="0" lang="en-US" sz="1050" u="none" cap="none" strike="noStrike">
                <a:solidFill>
                  <a:srgbClr val="DDE7F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DDE7F5"/>
                </a:solidFill>
                <a:latin typeface="Arial"/>
                <a:ea typeface="Arial"/>
                <a:cs typeface="Arial"/>
                <a:sym typeface="Arial"/>
              </a:rPr>
              <a:t>7-fold OOF 확률</a:t>
            </a:r>
            <a:endParaRPr/>
          </a:p>
        </p:txBody>
      </p:sp>
      <p:sp>
        <p:nvSpPr>
          <p:cNvPr id="582" name="Google Shape;582;p15"/>
          <p:cNvSpPr txBox="1"/>
          <p:nvPr/>
        </p:nvSpPr>
        <p:spPr>
          <a:xfrm>
            <a:off x="6994977" y="1600200"/>
            <a:ext cx="42062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7433889" y="1600200"/>
            <a:ext cx="1761683" cy="1371600"/>
          </a:xfrm>
          <a:prstGeom prst="roundRect">
            <a:avLst>
              <a:gd fmla="val 12000" name="adj"/>
            </a:avLst>
          </a:prstGeom>
          <a:solidFill>
            <a:srgbClr val="3182F6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 txBox="1"/>
          <p:nvPr/>
        </p:nvSpPr>
        <p:spPr>
          <a:xfrm>
            <a:off x="7525329" y="1873088"/>
            <a:ext cx="157880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</a:t>
            </a:r>
            <a:endParaRPr/>
          </a:p>
        </p:txBody>
      </p:sp>
      <p:sp>
        <p:nvSpPr>
          <p:cNvPr id="585" name="Google Shape;585;p15"/>
          <p:cNvSpPr txBox="1"/>
          <p:nvPr/>
        </p:nvSpPr>
        <p:spPr>
          <a:xfrm>
            <a:off x="7525329" y="2293712"/>
            <a:ext cx="15788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DE7F5"/>
                </a:solidFill>
                <a:latin typeface="Arial"/>
                <a:ea typeface="Arial"/>
                <a:cs typeface="Arial"/>
                <a:sym typeface="Arial"/>
              </a:rPr>
              <a:t>LogisticRegression</a:t>
            </a:r>
            <a:br>
              <a:rPr b="0" i="0" lang="en-US" sz="1050" u="none" cap="none" strike="noStrike">
                <a:solidFill>
                  <a:srgbClr val="DDE7F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DDE7F5"/>
                </a:solidFill>
                <a:latin typeface="Arial"/>
                <a:ea typeface="Arial"/>
                <a:cs typeface="Arial"/>
                <a:sym typeface="Arial"/>
              </a:rPr>
              <a:t>(C=0.1, 5-fold)</a:t>
            </a:r>
            <a:endParaRPr/>
          </a:p>
        </p:txBody>
      </p:sp>
      <p:sp>
        <p:nvSpPr>
          <p:cNvPr id="586" name="Google Shape;586;p15"/>
          <p:cNvSpPr txBox="1"/>
          <p:nvPr/>
        </p:nvSpPr>
        <p:spPr>
          <a:xfrm>
            <a:off x="9213860" y="1600200"/>
            <a:ext cx="42062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9652772" y="1600200"/>
            <a:ext cx="1761683" cy="1371600"/>
          </a:xfrm>
          <a:prstGeom prst="roundRect">
            <a:avLst>
              <a:gd fmla="val 12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 txBox="1"/>
          <p:nvPr/>
        </p:nvSpPr>
        <p:spPr>
          <a:xfrm>
            <a:off x="9744212" y="1873088"/>
            <a:ext cx="157880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출력</a:t>
            </a:r>
            <a:endParaRPr/>
          </a:p>
        </p:txBody>
      </p:sp>
      <p:sp>
        <p:nvSpPr>
          <p:cNvPr id="589" name="Google Shape;589;p15"/>
          <p:cNvSpPr txBox="1"/>
          <p:nvPr/>
        </p:nvSpPr>
        <p:spPr>
          <a:xfrm>
            <a:off x="9744212" y="2293712"/>
            <a:ext cx="15788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상태 3분류 + 클래스 확률</a:t>
            </a:r>
            <a:endParaRPr/>
          </a:p>
        </p:txBody>
      </p:sp>
      <p:graphicFrame>
        <p:nvGraphicFramePr>
          <p:cNvPr id="590" name="Google Shape;590;p15"/>
          <p:cNvGraphicFramePr/>
          <p:nvPr/>
        </p:nvGraphicFramePr>
        <p:xfrm>
          <a:off x="777240" y="329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{3D413E08-6C14-4CC6-983C-5C12EF847440}</a:tableStyleId>
              </a:tblPr>
              <a:tblGrid>
                <a:gridCol w="1188725"/>
                <a:gridCol w="2743200"/>
                <a:gridCol w="24688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구성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입력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생활데이터 13변수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제외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전처리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결측·인코딩·파생변수 35개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모델별 native / 폴드-로컬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 Base(5)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RealMLP, HGB×3, LightGBM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7-fold OOF 확률 생성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 Meta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LogisticRegression (C=0.1)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규제만 C=1.0→0.1로 조정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⑤ 출력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 3분류 + 클래스 확률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 산출물로 연결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1" name="Google Shape;591;p15"/>
          <p:cNvSpPr/>
          <p:nvPr/>
        </p:nvSpPr>
        <p:spPr>
          <a:xfrm>
            <a:off x="7543800" y="3291840"/>
            <a:ext cx="3870655" cy="2606040"/>
          </a:xfrm>
          <a:prstGeom prst="roundRect">
            <a:avLst>
              <a:gd fmla="val 7017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 txBox="1"/>
          <p:nvPr/>
        </p:nvSpPr>
        <p:spPr>
          <a:xfrm>
            <a:off x="7909560" y="3566160"/>
            <a:ext cx="31391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파이프라인 핵심</a:t>
            </a:r>
            <a:endParaRPr/>
          </a:p>
        </p:txBody>
      </p:sp>
      <p:sp>
        <p:nvSpPr>
          <p:cNvPr id="593" name="Google Shape;593;p15"/>
          <p:cNvSpPr txBox="1"/>
          <p:nvPr/>
        </p:nvSpPr>
        <p:spPr>
          <a:xfrm>
            <a:off x="7909560" y="4069080"/>
            <a:ext cx="313913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V6은 V5의 5개 base 예측을 그대로 유지하고 메타 로지스틱 규제만 </a:t>
            </a: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C=1.0 → C=0.1</a:t>
            </a: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로 조정한 버전. 큰 구조 변경 없이 Direct OOF 0.950774 · Public 0.95083의 소폭·일관 개선을 확보했다.</a:t>
            </a:r>
            <a:endParaRPr/>
          </a:p>
        </p:txBody>
      </p:sp>
      <p:sp>
        <p:nvSpPr>
          <p:cNvPr id="594" name="Google Shape;594;p15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6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4 · 머신러닝 수행</a:t>
            </a:r>
            <a:endParaRPr/>
          </a:p>
        </p:txBody>
      </p:sp>
      <p:sp>
        <p:nvSpPr>
          <p:cNvPr id="601" name="Google Shape;601;p16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최종 모델 클래스별 성능</a:t>
            </a:r>
            <a:endParaRPr/>
          </a:p>
        </p:txBody>
      </p:sp>
      <p:sp>
        <p:nvSpPr>
          <p:cNvPr id="602" name="Google Shape;602;p16"/>
          <p:cNvSpPr/>
          <p:nvPr/>
        </p:nvSpPr>
        <p:spPr>
          <a:xfrm>
            <a:off x="777240" y="1554480"/>
            <a:ext cx="5943600" cy="4480560"/>
          </a:xfrm>
          <a:prstGeom prst="roundRect">
            <a:avLst>
              <a:gd fmla="val 448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143000" y="181051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V6 최종 모델 OOF 혼동행렬 — 대각 집중</a:t>
            </a:r>
            <a:endParaRPr/>
          </a:p>
        </p:txBody>
      </p:sp>
      <p:pic>
        <p:nvPicPr>
          <p:cNvPr descr="confusion.png" id="604" name="Google Shape;6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2194560"/>
            <a:ext cx="3610109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6"/>
          <p:cNvSpPr/>
          <p:nvPr/>
        </p:nvSpPr>
        <p:spPr>
          <a:xfrm>
            <a:off x="7086600" y="1554480"/>
            <a:ext cx="4327855" cy="2464308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2964" y="1904497"/>
            <a:ext cx="3596335" cy="190246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6"/>
          <p:cNvSpPr txBox="1"/>
          <p:nvPr/>
        </p:nvSpPr>
        <p:spPr>
          <a:xfrm>
            <a:off x="7452360" y="1810512"/>
            <a:ext cx="35963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등급별 재현율 — 위험군 96.5%</a:t>
            </a:r>
            <a:endParaRPr/>
          </a:p>
        </p:txBody>
      </p:sp>
      <p:sp>
        <p:nvSpPr>
          <p:cNvPr id="608" name="Google Shape;608;p16"/>
          <p:cNvSpPr/>
          <p:nvPr/>
        </p:nvSpPr>
        <p:spPr>
          <a:xfrm>
            <a:off x="7086600" y="4293108"/>
            <a:ext cx="4327855" cy="1741932"/>
          </a:xfrm>
          <a:prstGeom prst="roundRect">
            <a:avLst>
              <a:gd fmla="val 10498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 txBox="1"/>
          <p:nvPr/>
        </p:nvSpPr>
        <p:spPr>
          <a:xfrm>
            <a:off x="7452359" y="4378146"/>
            <a:ext cx="35963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장표 설명</a:t>
            </a:r>
            <a:endParaRPr b="1" i="0" sz="1250" u="none" cap="none" strike="noStrike">
              <a:solidFill>
                <a:srgbClr val="31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7470648" y="4656891"/>
            <a:ext cx="91440" cy="9144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7708392" y="4583202"/>
            <a:ext cx="3367735" cy="355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V6은 fit·unhealthy 두 소수 클래스를 비교적 잘 놓치지</a:t>
            </a:r>
            <a:endParaRPr b="0" i="0" sz="10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않음 (재현율 95.0·96.5%).</a:t>
            </a:r>
            <a:endParaRPr/>
          </a:p>
        </p:txBody>
      </p:sp>
      <p:sp>
        <p:nvSpPr>
          <p:cNvPr id="612" name="Google Shape;612;p16"/>
          <p:cNvSpPr/>
          <p:nvPr/>
        </p:nvSpPr>
        <p:spPr>
          <a:xfrm>
            <a:off x="7470648" y="5105484"/>
            <a:ext cx="91440" cy="9144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708392" y="5058690"/>
            <a:ext cx="3367735" cy="355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대신 정밀도(fit 0.73 · unhealthy 0.70)는 낮아 일부</a:t>
            </a:r>
            <a:endParaRPr b="0" i="0" sz="10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«과잉경보»를 감수하는 trade-off.</a:t>
            </a: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7470648" y="5589937"/>
            <a:ext cx="91440" cy="9144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7708392" y="5534178"/>
            <a:ext cx="3367735" cy="355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오분류는 대부분 인접 등급 이동</a:t>
            </a:r>
            <a:endParaRPr b="0" i="0" sz="10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→ 치명적 혼동(안정↔위험)은 매우 적음.</a:t>
            </a:r>
            <a:endParaRPr/>
          </a:p>
        </p:txBody>
      </p:sp>
      <p:sp>
        <p:nvSpPr>
          <p:cNvPr id="616" name="Google Shape;616;p16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서비스 로직 · SERVICE LOGIC</a:t>
            </a:r>
            <a:endParaRPr/>
          </a:p>
        </p:txBody>
      </p:sp>
      <p:sp>
        <p:nvSpPr>
          <p:cNvPr id="623" name="Google Shape;623;p17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3분류를 1~9 회복등급으로 번역</a:t>
            </a:r>
            <a:endParaRPr/>
          </a:p>
        </p:txBody>
      </p:sp>
      <p:sp>
        <p:nvSpPr>
          <p:cNvPr id="624" name="Google Shape;624;p17"/>
          <p:cNvSpPr/>
          <p:nvPr/>
        </p:nvSpPr>
        <p:spPr>
          <a:xfrm>
            <a:off x="777240" y="1554480"/>
            <a:ext cx="6400800" cy="4480560"/>
          </a:xfrm>
          <a:prstGeom prst="roundRect">
            <a:avLst>
              <a:gd fmla="val 448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 txBox="1"/>
          <p:nvPr/>
        </p:nvSpPr>
        <p:spPr>
          <a:xfrm>
            <a:off x="1143000" y="182880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변환 3단계</a:t>
            </a:r>
            <a:endParaRPr/>
          </a:p>
        </p:txBody>
      </p:sp>
      <p:sp>
        <p:nvSpPr>
          <p:cNvPr id="626" name="Google Shape;626;p17"/>
          <p:cNvSpPr/>
          <p:nvPr/>
        </p:nvSpPr>
        <p:spPr>
          <a:xfrm>
            <a:off x="1143000" y="2423160"/>
            <a:ext cx="5669280" cy="868680"/>
          </a:xfrm>
          <a:prstGeom prst="roundRect">
            <a:avLst>
              <a:gd fmla="val 15789" name="adj"/>
            </a:avLst>
          </a:prstGeom>
          <a:solidFill>
            <a:srgbClr val="F8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1344168" y="2642615"/>
            <a:ext cx="914400" cy="384048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628" name="Google Shape;628;p17"/>
          <p:cNvSpPr txBox="1"/>
          <p:nvPr/>
        </p:nvSpPr>
        <p:spPr>
          <a:xfrm>
            <a:off x="2404872" y="2569464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V6 클래스 확률</a:t>
            </a:r>
            <a:endParaRPr/>
          </a:p>
        </p:txBody>
      </p:sp>
      <p:sp>
        <p:nvSpPr>
          <p:cNvPr id="629" name="Google Shape;629;p17"/>
          <p:cNvSpPr txBox="1"/>
          <p:nvPr/>
        </p:nvSpPr>
        <p:spPr>
          <a:xfrm>
            <a:off x="2404872" y="288036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P(fit) + P(at-risk) + P(unhealthy) = 1</a:t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1143000" y="3447288"/>
            <a:ext cx="5669280" cy="868680"/>
          </a:xfrm>
          <a:prstGeom prst="roundRect">
            <a:avLst>
              <a:gd fmla="val 15789" name="adj"/>
            </a:avLst>
          </a:prstGeom>
          <a:solidFill>
            <a:srgbClr val="F8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1344168" y="3666744"/>
            <a:ext cx="914400" cy="384048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/>
          </a:p>
        </p:txBody>
      </p:sp>
      <p:sp>
        <p:nvSpPr>
          <p:cNvPr id="632" name="Google Shape;632;p17"/>
          <p:cNvSpPr txBox="1"/>
          <p:nvPr/>
        </p:nvSpPr>
        <p:spPr>
          <a:xfrm>
            <a:off x="2404872" y="3593592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회복상태점수 R</a:t>
            </a:r>
            <a:endParaRPr/>
          </a:p>
        </p:txBody>
      </p:sp>
      <p:sp>
        <p:nvSpPr>
          <p:cNvPr id="633" name="Google Shape;633;p17"/>
          <p:cNvSpPr txBox="1"/>
          <p:nvPr/>
        </p:nvSpPr>
        <p:spPr>
          <a:xfrm>
            <a:off x="2404872" y="3904487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R = 0·P(fit) + 50·P(at-risk) + 100·P(unhealthy)</a:t>
            </a: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1143000" y="4471416"/>
            <a:ext cx="5669280" cy="868680"/>
          </a:xfrm>
          <a:prstGeom prst="roundRect">
            <a:avLst>
              <a:gd fmla="val 15789" name="adj"/>
            </a:avLst>
          </a:prstGeom>
          <a:solidFill>
            <a:srgbClr val="F8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1344168" y="4690872"/>
            <a:ext cx="914400" cy="384048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/>
          </a:p>
        </p:txBody>
      </p:sp>
      <p:sp>
        <p:nvSpPr>
          <p:cNvPr id="636" name="Google Shape;636;p17"/>
          <p:cNvSpPr txBox="1"/>
          <p:nvPr/>
        </p:nvSpPr>
        <p:spPr>
          <a:xfrm>
            <a:off x="2404872" y="461772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회복등급 G</a:t>
            </a:r>
            <a:endParaRPr/>
          </a:p>
        </p:txBody>
      </p:sp>
      <p:sp>
        <p:nvSpPr>
          <p:cNvPr id="637" name="Google Shape;637;p17"/>
          <p:cNvSpPr txBox="1"/>
          <p:nvPr/>
        </p:nvSpPr>
        <p:spPr>
          <a:xfrm>
            <a:off x="2404872" y="4928616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G = min(9, floor(R × 9 / 100) + 1)</a:t>
            </a:r>
            <a:endParaRPr/>
          </a:p>
        </p:txBody>
      </p:sp>
      <p:sp>
        <p:nvSpPr>
          <p:cNvPr id="638" name="Google Shape;638;p17"/>
          <p:cNvSpPr txBox="1"/>
          <p:nvPr/>
        </p:nvSpPr>
        <p:spPr>
          <a:xfrm>
            <a:off x="1143000" y="551383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상태 가중치</a:t>
            </a: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2606040" y="5495544"/>
            <a:ext cx="868680" cy="310896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fit 0</a:t>
            </a: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3657600" y="5495544"/>
            <a:ext cx="1417319" cy="310896"/>
          </a:xfrm>
          <a:prstGeom prst="roundRect">
            <a:avLst>
              <a:gd fmla="val 50000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at-risk 50</a:t>
            </a:r>
            <a:endParaRPr/>
          </a:p>
        </p:txBody>
      </p:sp>
      <p:sp>
        <p:nvSpPr>
          <p:cNvPr id="641" name="Google Shape;641;p17"/>
          <p:cNvSpPr/>
          <p:nvPr/>
        </p:nvSpPr>
        <p:spPr>
          <a:xfrm>
            <a:off x="5257800" y="5495544"/>
            <a:ext cx="1746504" cy="310896"/>
          </a:xfrm>
          <a:prstGeom prst="roundRect">
            <a:avLst>
              <a:gd fmla="val 50000" name="adj"/>
            </a:avLst>
          </a:prstGeom>
          <a:solidFill>
            <a:srgbClr val="FDECE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unhealthy 100</a:t>
            </a:r>
            <a:endParaRPr/>
          </a:p>
        </p:txBody>
      </p:sp>
      <p:sp>
        <p:nvSpPr>
          <p:cNvPr id="642" name="Google Shape;642;p17"/>
          <p:cNvSpPr/>
          <p:nvPr/>
        </p:nvSpPr>
        <p:spPr>
          <a:xfrm>
            <a:off x="7543800" y="1554480"/>
            <a:ext cx="3870655" cy="4480560"/>
          </a:xfrm>
          <a:prstGeom prst="roundRect">
            <a:avLst>
              <a:gd fmla="val 5197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 txBox="1"/>
          <p:nvPr/>
        </p:nvSpPr>
        <p:spPr>
          <a:xfrm>
            <a:off x="7909560" y="1703290"/>
            <a:ext cx="31391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예시 계산</a:t>
            </a:r>
            <a:endParaRPr b="1" i="0" sz="135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17"/>
          <p:cNvGrpSpPr/>
          <p:nvPr/>
        </p:nvGrpSpPr>
        <p:grpSpPr>
          <a:xfrm>
            <a:off x="7909560" y="1999125"/>
            <a:ext cx="3139135" cy="1234440"/>
            <a:chOff x="7909560" y="2286000"/>
            <a:chExt cx="3139135" cy="1234440"/>
          </a:xfrm>
        </p:grpSpPr>
        <p:sp>
          <p:nvSpPr>
            <p:cNvPr id="645" name="Google Shape;645;p17"/>
            <p:cNvSpPr/>
            <p:nvPr/>
          </p:nvSpPr>
          <p:spPr>
            <a:xfrm>
              <a:off x="7909560" y="2286000"/>
              <a:ext cx="3139135" cy="1234440"/>
            </a:xfrm>
            <a:prstGeom prst="roundRect">
              <a:avLst>
                <a:gd fmla="val 11851" name="adj"/>
              </a:avLst>
            </a:prstGeom>
            <a:solidFill>
              <a:srgbClr val="E8F1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7"/>
            <p:cNvSpPr txBox="1"/>
            <p:nvPr/>
          </p:nvSpPr>
          <p:spPr>
            <a:xfrm>
              <a:off x="8138160" y="2450591"/>
              <a:ext cx="268193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P(fit) 0.05 · P(at-risk) 0.15 · </a:t>
              </a:r>
              <a:r>
                <a:rPr b="1" i="0" lang="en-US" sz="115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P(unhealthy) 0.80</a:t>
              </a:r>
              <a:endParaRPr/>
            </a:p>
          </p:txBody>
        </p:sp>
        <p:sp>
          <p:nvSpPr>
            <p:cNvPr id="647" name="Google Shape;647;p17"/>
            <p:cNvSpPr txBox="1"/>
            <p:nvPr/>
          </p:nvSpPr>
          <p:spPr>
            <a:xfrm>
              <a:off x="8138160" y="2852928"/>
              <a:ext cx="2681935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R = 87.5</a:t>
              </a:r>
              <a:r>
                <a:rPr b="0" i="0" lang="en-US" sz="1300" u="none" cap="none" strike="noStrike">
                  <a:solidFill>
                    <a:srgbClr val="8B95A1"/>
                  </a:solidFill>
                  <a:latin typeface="Arial"/>
                  <a:ea typeface="Arial"/>
                  <a:cs typeface="Arial"/>
                  <a:sym typeface="Arial"/>
                </a:rPr>
                <a:t>   →   </a:t>
              </a:r>
              <a:r>
                <a:rPr b="1" i="0" lang="en-US" sz="1500" u="none" cap="none" strike="noStrike">
                  <a:solidFill>
                    <a:srgbClr val="F04452"/>
                  </a:solidFill>
                  <a:latin typeface="Arial"/>
                  <a:ea typeface="Arial"/>
                  <a:cs typeface="Arial"/>
                  <a:sym typeface="Arial"/>
                </a:rPr>
                <a:t>회복등급 8등급</a:t>
              </a:r>
              <a:endParaRPr/>
            </a:p>
          </p:txBody>
        </p:sp>
      </p:grpSp>
      <p:sp>
        <p:nvSpPr>
          <p:cNvPr id="648" name="Google Shape;648;p17"/>
          <p:cNvSpPr txBox="1"/>
          <p:nvPr/>
        </p:nvSpPr>
        <p:spPr>
          <a:xfrm>
            <a:off x="7909560" y="3407122"/>
            <a:ext cx="31391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등급 구간</a:t>
            </a:r>
            <a:endParaRPr b="1" i="0" sz="135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9" name="Google Shape;649;p17"/>
          <p:cNvGrpSpPr/>
          <p:nvPr/>
        </p:nvGrpSpPr>
        <p:grpSpPr>
          <a:xfrm>
            <a:off x="7909560" y="3705115"/>
            <a:ext cx="3139135" cy="1364249"/>
            <a:chOff x="7909560" y="3705115"/>
            <a:chExt cx="3139135" cy="1364249"/>
          </a:xfrm>
        </p:grpSpPr>
        <p:grpSp>
          <p:nvGrpSpPr>
            <p:cNvPr id="650" name="Google Shape;650;p17"/>
            <p:cNvGrpSpPr/>
            <p:nvPr/>
          </p:nvGrpSpPr>
          <p:grpSpPr>
            <a:xfrm>
              <a:off x="7909560" y="3705115"/>
              <a:ext cx="3139135" cy="402336"/>
              <a:chOff x="7909560" y="3705115"/>
              <a:chExt cx="3139135" cy="402336"/>
            </a:xfrm>
          </p:grpSpPr>
          <p:sp>
            <p:nvSpPr>
              <p:cNvPr id="651" name="Google Shape;651;p17"/>
              <p:cNvSpPr/>
              <p:nvPr/>
            </p:nvSpPr>
            <p:spPr>
              <a:xfrm>
                <a:off x="7909560" y="3705115"/>
                <a:ext cx="1234440" cy="402336"/>
              </a:xfrm>
              <a:prstGeom prst="roundRect">
                <a:avLst>
                  <a:gd fmla="val 50000" name="adj"/>
                </a:avLst>
              </a:prstGeom>
              <a:solidFill>
                <a:srgbClr val="E4F7EF"/>
              </a:solidFill>
              <a:ln>
                <a:noFill/>
              </a:ln>
            </p:spPr>
            <p:txBody>
              <a:bodyPr anchorCtr="0" anchor="ctr" bIns="18275" lIns="45700" spcFirstLastPara="1" rIns="45700" wrap="square" tIns="18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 u="none" cap="none" strike="noStrike">
                    <a:solidFill>
                      <a:srgbClr val="15C47E"/>
                    </a:solidFill>
                    <a:latin typeface="Arial"/>
                    <a:ea typeface="Arial"/>
                    <a:cs typeface="Arial"/>
                    <a:sym typeface="Arial"/>
                  </a:rPr>
                  <a:t>1~3등급</a:t>
                </a:r>
                <a:endParaRPr/>
              </a:p>
            </p:txBody>
          </p:sp>
          <p:sp>
            <p:nvSpPr>
              <p:cNvPr id="652" name="Google Shape;652;p17"/>
              <p:cNvSpPr txBox="1"/>
              <p:nvPr/>
            </p:nvSpPr>
            <p:spPr>
              <a:xfrm>
                <a:off x="9281160" y="3705115"/>
                <a:ext cx="1767535" cy="4023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2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50" u="none" cap="none" strike="noStrike">
                    <a:solidFill>
                      <a:srgbClr val="333D4B"/>
                    </a:solidFill>
                    <a:latin typeface="Arial"/>
                    <a:ea typeface="Arial"/>
                    <a:cs typeface="Arial"/>
                    <a:sym typeface="Arial"/>
                  </a:rPr>
                  <a:t>현재 상태가 비교적 안정</a:t>
                </a:r>
                <a:endParaRPr/>
              </a:p>
            </p:txBody>
          </p:sp>
        </p:grpSp>
        <p:grpSp>
          <p:nvGrpSpPr>
            <p:cNvPr id="653" name="Google Shape;653;p17"/>
            <p:cNvGrpSpPr/>
            <p:nvPr/>
          </p:nvGrpSpPr>
          <p:grpSpPr>
            <a:xfrm>
              <a:off x="7909560" y="4190642"/>
              <a:ext cx="3139135" cy="402336"/>
              <a:chOff x="7909560" y="4235467"/>
              <a:chExt cx="3139135" cy="402336"/>
            </a:xfrm>
          </p:grpSpPr>
          <p:sp>
            <p:nvSpPr>
              <p:cNvPr id="654" name="Google Shape;654;p17"/>
              <p:cNvSpPr/>
              <p:nvPr/>
            </p:nvSpPr>
            <p:spPr>
              <a:xfrm>
                <a:off x="7909560" y="4235467"/>
                <a:ext cx="1234440" cy="402336"/>
              </a:xfrm>
              <a:prstGeom prst="roundRect">
                <a:avLst>
                  <a:gd fmla="val 50000" name="adj"/>
                </a:avLst>
              </a:prstGeom>
              <a:solidFill>
                <a:srgbClr val="FFF3E0"/>
              </a:solidFill>
              <a:ln>
                <a:noFill/>
              </a:ln>
            </p:spPr>
            <p:txBody>
              <a:bodyPr anchorCtr="0" anchor="ctr" bIns="18275" lIns="45700" spcFirstLastPara="1" rIns="45700" wrap="square" tIns="18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 u="none" cap="none" strike="noStrike">
                    <a:solidFill>
                      <a:srgbClr val="FF9500"/>
                    </a:solidFill>
                    <a:latin typeface="Arial"/>
                    <a:ea typeface="Arial"/>
                    <a:cs typeface="Arial"/>
                    <a:sym typeface="Arial"/>
                  </a:rPr>
                  <a:t>4~6등급</a:t>
                </a:r>
                <a:endParaRPr/>
              </a:p>
            </p:txBody>
          </p:sp>
          <p:sp>
            <p:nvSpPr>
              <p:cNvPr id="655" name="Google Shape;655;p17"/>
              <p:cNvSpPr txBox="1"/>
              <p:nvPr/>
            </p:nvSpPr>
            <p:spPr>
              <a:xfrm>
                <a:off x="9281160" y="4235467"/>
                <a:ext cx="1767535" cy="4023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2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50" u="none" cap="none" strike="noStrike">
                    <a:solidFill>
                      <a:srgbClr val="333D4B"/>
                    </a:solidFill>
                    <a:latin typeface="Arial"/>
                    <a:ea typeface="Arial"/>
                    <a:cs typeface="Arial"/>
                    <a:sym typeface="Arial"/>
                  </a:rPr>
                  <a:t>주의가 필요한 상태</a:t>
                </a:r>
                <a:endParaRPr/>
              </a:p>
            </p:txBody>
          </p:sp>
        </p:grpSp>
        <p:grpSp>
          <p:nvGrpSpPr>
            <p:cNvPr id="656" name="Google Shape;656;p17"/>
            <p:cNvGrpSpPr/>
            <p:nvPr/>
          </p:nvGrpSpPr>
          <p:grpSpPr>
            <a:xfrm>
              <a:off x="7909560" y="4667028"/>
              <a:ext cx="3139135" cy="402336"/>
              <a:chOff x="7909560" y="4783573"/>
              <a:chExt cx="3139135" cy="402336"/>
            </a:xfrm>
          </p:grpSpPr>
          <p:sp>
            <p:nvSpPr>
              <p:cNvPr id="657" name="Google Shape;657;p17"/>
              <p:cNvSpPr/>
              <p:nvPr/>
            </p:nvSpPr>
            <p:spPr>
              <a:xfrm>
                <a:off x="7909560" y="4783573"/>
                <a:ext cx="1234440" cy="402336"/>
              </a:xfrm>
              <a:prstGeom prst="roundRect">
                <a:avLst>
                  <a:gd fmla="val 50000" name="adj"/>
                </a:avLst>
              </a:prstGeom>
              <a:solidFill>
                <a:srgbClr val="FDECEE"/>
              </a:solidFill>
              <a:ln>
                <a:noFill/>
              </a:ln>
            </p:spPr>
            <p:txBody>
              <a:bodyPr anchorCtr="0" anchor="ctr" bIns="18275" lIns="45700" spcFirstLastPara="1" rIns="45700" wrap="square" tIns="18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 u="none" cap="none" strike="noStrike">
                    <a:solidFill>
                      <a:srgbClr val="F04452"/>
                    </a:solidFill>
                    <a:latin typeface="Arial"/>
                    <a:ea typeface="Arial"/>
                    <a:cs typeface="Arial"/>
                    <a:sym typeface="Arial"/>
                  </a:rPr>
                  <a:t>7~9등급</a:t>
                </a:r>
                <a:endParaRPr/>
              </a:p>
            </p:txBody>
          </p:sp>
          <p:sp>
            <p:nvSpPr>
              <p:cNvPr id="658" name="Google Shape;658;p17"/>
              <p:cNvSpPr txBox="1"/>
              <p:nvPr/>
            </p:nvSpPr>
            <p:spPr>
              <a:xfrm>
                <a:off x="9281160" y="4783573"/>
                <a:ext cx="1767535" cy="4023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2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50" u="none" cap="none" strike="noStrike">
                    <a:solidFill>
                      <a:srgbClr val="333D4B"/>
                    </a:solidFill>
                    <a:latin typeface="Arial"/>
                    <a:ea typeface="Arial"/>
                    <a:cs typeface="Arial"/>
                    <a:sym typeface="Arial"/>
                  </a:rPr>
                  <a:t>코치가 우선 확인할 가능성 높음</a:t>
                </a:r>
                <a:endParaRPr/>
              </a:p>
            </p:txBody>
          </p:sp>
        </p:grpSp>
      </p:grpSp>
      <p:grpSp>
        <p:nvGrpSpPr>
          <p:cNvPr id="659" name="Google Shape;659;p17"/>
          <p:cNvGrpSpPr/>
          <p:nvPr/>
        </p:nvGrpSpPr>
        <p:grpSpPr>
          <a:xfrm>
            <a:off x="7909560" y="5220865"/>
            <a:ext cx="3139135" cy="594360"/>
            <a:chOff x="7909560" y="5257800"/>
            <a:chExt cx="3139135" cy="594360"/>
          </a:xfrm>
        </p:grpSpPr>
        <p:sp>
          <p:nvSpPr>
            <p:cNvPr id="660" name="Google Shape;660;p17"/>
            <p:cNvSpPr/>
            <p:nvPr/>
          </p:nvSpPr>
          <p:spPr>
            <a:xfrm>
              <a:off x="7909560" y="5257800"/>
              <a:ext cx="3139135" cy="594360"/>
            </a:xfrm>
            <a:prstGeom prst="roundRect">
              <a:avLst>
                <a:gd fmla="val 50000" name="adj"/>
              </a:avLst>
            </a:prstGeom>
            <a:solidFill>
              <a:srgbClr val="191F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7"/>
            <p:cNvSpPr txBox="1"/>
            <p:nvPr/>
          </p:nvSpPr>
          <p:spPr>
            <a:xfrm>
              <a:off x="7909560" y="5379515"/>
              <a:ext cx="3139135" cy="350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※ 고유 신분·능력평가가 아닌, 매일 새로 계산되는</a:t>
              </a:r>
              <a:endParaRPr b="1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«당일 상태값»</a:t>
              </a:r>
              <a:endParaRPr/>
            </a:p>
          </p:txBody>
        </p:sp>
      </p:grpSp>
      <p:sp>
        <p:nvSpPr>
          <p:cNvPr id="662" name="Google Shape;662;p17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8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8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서비스 로직 · SERVICE LOGIC</a:t>
            </a:r>
            <a:endParaRPr/>
          </a:p>
        </p:txBody>
      </p:sp>
      <p:sp>
        <p:nvSpPr>
          <p:cNvPr id="670" name="Google Shape;670;p18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Discord 연계 · 관심학생 우선순위 선별</a:t>
            </a: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777240" y="1554480"/>
            <a:ext cx="6035040" cy="4480560"/>
          </a:xfrm>
          <a:prstGeom prst="roundRect">
            <a:avLst>
              <a:gd fmla="val 448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8"/>
          <p:cNvSpPr txBox="1"/>
          <p:nvPr/>
        </p:nvSpPr>
        <p:spPr>
          <a:xfrm>
            <a:off x="1143000" y="18288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Discord — 이미 존재하는 운영 인프라</a:t>
            </a:r>
            <a:endParaRPr/>
          </a:p>
        </p:txBody>
      </p:sp>
      <p:sp>
        <p:nvSpPr>
          <p:cNvPr id="673" name="Google Shape;673;p18"/>
          <p:cNvSpPr txBox="1"/>
          <p:nvPr/>
        </p:nvSpPr>
        <p:spPr>
          <a:xfrm>
            <a:off x="1143000" y="2267712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학사공지·이상 커뮤니케이션이 실제로 오가는 채널. 새로 만들 커뮤니티가 아니라 기존 인프라를 활용합니다.</a:t>
            </a:r>
            <a:endParaRPr/>
          </a:p>
        </p:txBody>
      </p:sp>
      <p:sp>
        <p:nvSpPr>
          <p:cNvPr id="674" name="Google Shape;674;p18"/>
          <p:cNvSpPr txBox="1"/>
          <p:nvPr/>
        </p:nvSpPr>
        <p:spPr>
          <a:xfrm>
            <a:off x="1143000" y="30175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활용하는 데이터</a:t>
            </a:r>
            <a:endParaRPr/>
          </a:p>
        </p:txBody>
      </p:sp>
      <p:sp>
        <p:nvSpPr>
          <p:cNvPr id="675" name="Google Shape;675;p18"/>
          <p:cNvSpPr/>
          <p:nvPr/>
        </p:nvSpPr>
        <p:spPr>
          <a:xfrm>
            <a:off x="1143000" y="3337560"/>
            <a:ext cx="932688" cy="329184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접속 시간</a:t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2203704" y="3337560"/>
            <a:ext cx="1060704" cy="329184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활동 시간대</a:t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3392424" y="3337560"/>
            <a:ext cx="932688" cy="329184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활동일 수</a:t>
            </a:r>
            <a:endParaRPr/>
          </a:p>
        </p:txBody>
      </p:sp>
      <p:sp>
        <p:nvSpPr>
          <p:cNvPr id="678" name="Google Shape;678;p18"/>
          <p:cNvSpPr/>
          <p:nvPr/>
        </p:nvSpPr>
        <p:spPr>
          <a:xfrm>
            <a:off x="4453128" y="3337560"/>
            <a:ext cx="932688" cy="329184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활동 빈도</a:t>
            </a:r>
            <a:endParaRPr/>
          </a:p>
        </p:txBody>
      </p:sp>
      <p:sp>
        <p:nvSpPr>
          <p:cNvPr id="679" name="Google Shape;679;p18"/>
          <p:cNvSpPr/>
          <p:nvPr/>
        </p:nvSpPr>
        <p:spPr>
          <a:xfrm>
            <a:off x="5513832" y="3337560"/>
            <a:ext cx="932688" cy="329184"/>
          </a:xfrm>
          <a:prstGeom prst="roundRect">
            <a:avLst>
              <a:gd fmla="val 50000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최근 활동</a:t>
            </a:r>
            <a:endParaRPr/>
          </a:p>
        </p:txBody>
      </p:sp>
      <p:sp>
        <p:nvSpPr>
          <p:cNvPr id="680" name="Google Shape;680;p18"/>
          <p:cNvSpPr/>
          <p:nvPr/>
        </p:nvSpPr>
        <p:spPr>
          <a:xfrm>
            <a:off x="1143000" y="3886200"/>
            <a:ext cx="5303520" cy="457200"/>
          </a:xfrm>
          <a:prstGeom prst="roundRect">
            <a:avLst>
              <a:gd fmla="val 50000" name="adj"/>
            </a:avLst>
          </a:prstGeom>
          <a:solidFill>
            <a:srgbClr val="FDEC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 txBox="1"/>
          <p:nvPr/>
        </p:nvSpPr>
        <p:spPr>
          <a:xfrm>
            <a:off x="1143000" y="388620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수집 안 함  </a:t>
            </a:r>
            <a:r>
              <a:rPr b="1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채팅 본문 · 대화 내용 · 메시지 의미</a:t>
            </a:r>
            <a:endParaRPr/>
          </a:p>
        </p:txBody>
      </p:sp>
      <p:sp>
        <p:nvSpPr>
          <p:cNvPr id="682" name="Google Shape;682;p18"/>
          <p:cNvSpPr/>
          <p:nvPr/>
        </p:nvSpPr>
        <p:spPr>
          <a:xfrm>
            <a:off x="1143000" y="4572000"/>
            <a:ext cx="5303520" cy="1234440"/>
          </a:xfrm>
          <a:prstGeom prst="roundRect">
            <a:avLst>
              <a:gd fmla="val 11851" name="adj"/>
            </a:avLst>
          </a:prstGeom>
          <a:solidFill>
            <a:srgbClr val="F8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1344168" y="4754880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시간문진 ↔ Discord 활동 비교</a:t>
            </a:r>
            <a:endParaRPr/>
          </a:p>
        </p:txBody>
      </p:sp>
      <p:sp>
        <p:nvSpPr>
          <p:cNvPr id="684" name="Google Shape;684;p18"/>
          <p:cNvSpPr txBox="1"/>
          <p:nvPr/>
        </p:nvSpPr>
        <p:spPr>
          <a:xfrm>
            <a:off x="1344168" y="5120640"/>
            <a:ext cx="49377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수면보고(01–07시)와 새벽 활동(02:20·03:05·04:10)의 </a:t>
            </a:r>
            <a:r>
              <a:rPr b="1" i="0" lang="en-US" sz="1080" u="none" cap="none" strike="noStrike">
                <a:solidFill>
                  <a:srgbClr val="F04452"/>
                </a:solidFill>
                <a:latin typeface="Arial"/>
                <a:ea typeface="Arial"/>
                <a:cs typeface="Arial"/>
                <a:sym typeface="Arial"/>
              </a:rPr>
              <a:t>반복 불일치</a:t>
            </a:r>
            <a:r>
              <a:rPr b="0" i="0" lang="en-US" sz="108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 → 거짓말 탐지가 아니라 시간문진을 «보완»하는 신호.</a:t>
            </a: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7178040" y="1554480"/>
            <a:ext cx="4236415" cy="4480560"/>
          </a:xfrm>
          <a:prstGeom prst="roundRect">
            <a:avLst>
              <a:gd fmla="val 474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 txBox="1"/>
          <p:nvPr/>
        </p:nvSpPr>
        <p:spPr>
          <a:xfrm>
            <a:off x="7543800" y="1730187"/>
            <a:ext cx="35048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관심학생 후보 신호 (여러 신호가 반복될 때)</a:t>
            </a:r>
            <a:endParaRPr/>
          </a:p>
        </p:txBody>
      </p:sp>
      <p:grpSp>
        <p:nvGrpSpPr>
          <p:cNvPr id="687" name="Google Shape;687;p18"/>
          <p:cNvGrpSpPr/>
          <p:nvPr/>
        </p:nvGrpSpPr>
        <p:grpSpPr>
          <a:xfrm>
            <a:off x="7543800" y="2127325"/>
            <a:ext cx="3504895" cy="3310128"/>
            <a:chOff x="7543800" y="2172150"/>
            <a:chExt cx="3504895" cy="3310128"/>
          </a:xfrm>
        </p:grpSpPr>
        <p:sp>
          <p:nvSpPr>
            <p:cNvPr id="688" name="Google Shape;688;p18"/>
            <p:cNvSpPr/>
            <p:nvPr/>
          </p:nvSpPr>
          <p:spPr>
            <a:xfrm>
              <a:off x="7543800" y="2172150"/>
              <a:ext cx="3504895" cy="457200"/>
            </a:xfrm>
            <a:prstGeom prst="roundRect">
              <a:avLst>
                <a:gd fmla="val 260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7543800" y="2739078"/>
              <a:ext cx="3504895" cy="457200"/>
            </a:xfrm>
            <a:prstGeom prst="roundRect">
              <a:avLst>
                <a:gd fmla="val 260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7543800" y="3306006"/>
              <a:ext cx="3504895" cy="457200"/>
            </a:xfrm>
            <a:prstGeom prst="roundRect">
              <a:avLst>
                <a:gd fmla="val 260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7543800" y="3872934"/>
              <a:ext cx="3504895" cy="457200"/>
            </a:xfrm>
            <a:prstGeom prst="roundRect">
              <a:avLst>
                <a:gd fmla="val 260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8"/>
            <p:cNvSpPr/>
            <p:nvPr/>
          </p:nvSpPr>
          <p:spPr>
            <a:xfrm>
              <a:off x="7543800" y="4439862"/>
              <a:ext cx="3504895" cy="457200"/>
            </a:xfrm>
            <a:prstGeom prst="roundRect">
              <a:avLst>
                <a:gd fmla="val 260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18"/>
            <p:cNvSpPr/>
            <p:nvPr/>
          </p:nvSpPr>
          <p:spPr>
            <a:xfrm>
              <a:off x="7543800" y="5025078"/>
              <a:ext cx="3504895" cy="457200"/>
            </a:xfrm>
            <a:prstGeom prst="roundRect">
              <a:avLst>
                <a:gd fmla="val 50000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4" name="Google Shape;694;p18"/>
          <p:cNvGrpSpPr/>
          <p:nvPr/>
        </p:nvGrpSpPr>
        <p:grpSpPr>
          <a:xfrm>
            <a:off x="7816377" y="2104015"/>
            <a:ext cx="3322016" cy="457200"/>
            <a:chOff x="7744967" y="2423160"/>
            <a:chExt cx="3322016" cy="457200"/>
          </a:xfrm>
        </p:grpSpPr>
        <p:sp>
          <p:nvSpPr>
            <p:cNvPr id="695" name="Google Shape;695;p18"/>
            <p:cNvSpPr/>
            <p:nvPr/>
          </p:nvSpPr>
          <p:spPr>
            <a:xfrm>
              <a:off x="7744967" y="2596896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8"/>
            <p:cNvSpPr txBox="1"/>
            <p:nvPr/>
          </p:nvSpPr>
          <p:spPr>
            <a:xfrm>
              <a:off x="8019288" y="2423160"/>
              <a:ext cx="30476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at-risk / unhealthy 상태 반복</a:t>
              </a:r>
              <a:endParaRPr b="0" i="0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" name="Google Shape;697;p18"/>
          <p:cNvGrpSpPr/>
          <p:nvPr/>
        </p:nvGrpSpPr>
        <p:grpSpPr>
          <a:xfrm>
            <a:off x="7816377" y="2670943"/>
            <a:ext cx="3322016" cy="457200"/>
            <a:chOff x="7744967" y="2990088"/>
            <a:chExt cx="3322016" cy="457200"/>
          </a:xfrm>
        </p:grpSpPr>
        <p:sp>
          <p:nvSpPr>
            <p:cNvPr id="698" name="Google Shape;698;p18"/>
            <p:cNvSpPr/>
            <p:nvPr/>
          </p:nvSpPr>
          <p:spPr>
            <a:xfrm>
              <a:off x="7744967" y="3163824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8"/>
            <p:cNvSpPr txBox="1"/>
            <p:nvPr/>
          </p:nvSpPr>
          <p:spPr>
            <a:xfrm>
              <a:off x="8019288" y="2990088"/>
              <a:ext cx="30476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최근 상태 급락</a:t>
              </a:r>
              <a:endParaRPr/>
            </a:p>
          </p:txBody>
        </p:sp>
      </p:grpSp>
      <p:grpSp>
        <p:nvGrpSpPr>
          <p:cNvPr id="700" name="Google Shape;700;p18"/>
          <p:cNvGrpSpPr/>
          <p:nvPr/>
        </p:nvGrpSpPr>
        <p:grpSpPr>
          <a:xfrm>
            <a:off x="7816377" y="3237871"/>
            <a:ext cx="3322016" cy="457200"/>
            <a:chOff x="7744967" y="3557016"/>
            <a:chExt cx="3322016" cy="457200"/>
          </a:xfrm>
        </p:grpSpPr>
        <p:sp>
          <p:nvSpPr>
            <p:cNvPr id="701" name="Google Shape;701;p18"/>
            <p:cNvSpPr/>
            <p:nvPr/>
          </p:nvSpPr>
          <p:spPr>
            <a:xfrm>
              <a:off x="7744967" y="3730752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8"/>
            <p:cNvSpPr txBox="1"/>
            <p:nvPr/>
          </p:nvSpPr>
          <p:spPr>
            <a:xfrm>
              <a:off x="8019288" y="3557016"/>
              <a:ext cx="30476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수면보고·활동시간 반복 불일치</a:t>
              </a:r>
              <a:endParaRPr/>
            </a:p>
          </p:txBody>
        </p:sp>
      </p:grpSp>
      <p:grpSp>
        <p:nvGrpSpPr>
          <p:cNvPr id="703" name="Google Shape;703;p18"/>
          <p:cNvGrpSpPr/>
          <p:nvPr/>
        </p:nvGrpSpPr>
        <p:grpSpPr>
          <a:xfrm>
            <a:off x="7816377" y="3804799"/>
            <a:ext cx="3322016" cy="457200"/>
            <a:chOff x="7744967" y="4123944"/>
            <a:chExt cx="3322016" cy="457200"/>
          </a:xfrm>
        </p:grpSpPr>
        <p:sp>
          <p:nvSpPr>
            <p:cNvPr id="704" name="Google Shape;704;p18"/>
            <p:cNvSpPr/>
            <p:nvPr/>
          </p:nvSpPr>
          <p:spPr>
            <a:xfrm>
              <a:off x="7744967" y="4297680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8"/>
            <p:cNvSpPr txBox="1"/>
            <p:nvPr/>
          </p:nvSpPr>
          <p:spPr>
            <a:xfrm>
              <a:off x="8019288" y="4123944"/>
              <a:ext cx="30476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Discord 심야 활동 증가</a:t>
              </a:r>
              <a:endParaRPr/>
            </a:p>
          </p:txBody>
        </p:sp>
      </p:grpSp>
      <p:grpSp>
        <p:nvGrpSpPr>
          <p:cNvPr id="706" name="Google Shape;706;p18"/>
          <p:cNvGrpSpPr/>
          <p:nvPr/>
        </p:nvGrpSpPr>
        <p:grpSpPr>
          <a:xfrm>
            <a:off x="7816377" y="4371727"/>
            <a:ext cx="3322016" cy="457200"/>
            <a:chOff x="7744967" y="4690872"/>
            <a:chExt cx="3322016" cy="457200"/>
          </a:xfrm>
        </p:grpSpPr>
        <p:sp>
          <p:nvSpPr>
            <p:cNvPr id="707" name="Google Shape;707;p18"/>
            <p:cNvSpPr/>
            <p:nvPr/>
          </p:nvSpPr>
          <p:spPr>
            <a:xfrm>
              <a:off x="7744967" y="4864608"/>
              <a:ext cx="109728" cy="109728"/>
            </a:xfrm>
            <a:prstGeom prst="ellipse">
              <a:avLst/>
            </a:prstGeom>
            <a:solidFill>
              <a:srgbClr val="FF9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8"/>
            <p:cNvSpPr txBox="1"/>
            <p:nvPr/>
          </p:nvSpPr>
          <p:spPr>
            <a:xfrm>
              <a:off x="8019288" y="4690872"/>
              <a:ext cx="30476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출결·과제·LMS 활동 지연</a:t>
              </a:r>
              <a:endParaRPr b="0" i="0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9" name="Google Shape;709;p18"/>
          <p:cNvSpPr txBox="1"/>
          <p:nvPr/>
        </p:nvSpPr>
        <p:spPr>
          <a:xfrm>
            <a:off x="7521286" y="5010912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↓  </a:t>
            </a:r>
            <a:r>
              <a:rPr b="1" i="0" lang="en-US" sz="12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관심학생 후보로 우선 노출</a:t>
            </a:r>
            <a:endParaRPr b="1" i="0" sz="125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8"/>
          <p:cNvSpPr txBox="1"/>
          <p:nvPr/>
        </p:nvSpPr>
        <p:spPr>
          <a:xfrm>
            <a:off x="7543800" y="5623560"/>
            <a:ext cx="3504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자동 제재 ✕   상태확정 판정 ✕   </a:t>
            </a:r>
            <a:r>
              <a:rPr b="1" i="0" lang="en-US" sz="105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코치 확인 우선 보조 ○</a:t>
            </a:r>
            <a:endParaRPr/>
          </a:p>
        </p:txBody>
      </p:sp>
      <p:sp>
        <p:nvSpPr>
          <p:cNvPr id="711" name="Google Shape;711;p18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9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9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기대효과 · EXPECTED IMPACT</a:t>
            </a:r>
            <a:endParaRPr/>
          </a:p>
        </p:txBody>
      </p:sp>
      <p:sp>
        <p:nvSpPr>
          <p:cNvPr id="718" name="Google Shape;718;p19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무엇이 달라지는가 — 기존 운영 vs 내일은행</a:t>
            </a:r>
            <a:endParaRPr/>
          </a:p>
        </p:txBody>
      </p:sp>
      <p:sp>
        <p:nvSpPr>
          <p:cNvPr id="719" name="Google Shape;719;p19"/>
          <p:cNvSpPr txBox="1"/>
          <p:nvPr/>
        </p:nvSpPr>
        <p:spPr>
          <a:xfrm>
            <a:off x="777240" y="1444752"/>
            <a:ext cx="106372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AI가 학생을 관리하는 것이 아니라, </a:t>
            </a:r>
            <a:r>
              <a:rPr b="1" i="0" lang="en-US" sz="15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코치가 더 중요한 학생에게 집중하도록 돕습니다.</a:t>
            </a:r>
            <a:endParaRPr/>
          </a:p>
        </p:txBody>
      </p:sp>
      <p:sp>
        <p:nvSpPr>
          <p:cNvPr id="720" name="Google Shape;720;p19"/>
          <p:cNvSpPr/>
          <p:nvPr/>
        </p:nvSpPr>
        <p:spPr>
          <a:xfrm>
            <a:off x="777240" y="2194560"/>
            <a:ext cx="4907127" cy="3886200"/>
          </a:xfrm>
          <a:prstGeom prst="roundRect">
            <a:avLst>
              <a:gd fmla="val 5176" name="adj"/>
            </a:avLst>
          </a:prstGeom>
          <a:solidFill>
            <a:srgbClr val="F3F5F7"/>
          </a:solidFill>
          <a:ln cap="flat" cmpd="sng" w="12700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9"/>
          <p:cNvSpPr/>
          <p:nvPr/>
        </p:nvSpPr>
        <p:spPr>
          <a:xfrm>
            <a:off x="1143000" y="2514600"/>
            <a:ext cx="2148840" cy="402336"/>
          </a:xfrm>
          <a:prstGeom prst="roundRect">
            <a:avLst>
              <a:gd fmla="val 50000" name="adj"/>
            </a:avLst>
          </a:prstGeom>
          <a:solidFill>
            <a:srgbClr val="E5E8EB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기존 운영  Before</a:t>
            </a:r>
            <a:endParaRPr/>
          </a:p>
        </p:txBody>
      </p:sp>
      <p:sp>
        <p:nvSpPr>
          <p:cNvPr id="722" name="Google Shape;722;p19"/>
          <p:cNvSpPr/>
          <p:nvPr/>
        </p:nvSpPr>
        <p:spPr>
          <a:xfrm>
            <a:off x="1143000" y="3127248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FFFFFF"/>
          </a:solidFill>
          <a:ln cap="flat" cmpd="sng" w="952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9"/>
          <p:cNvSpPr txBox="1"/>
          <p:nvPr/>
        </p:nvSpPr>
        <p:spPr>
          <a:xfrm>
            <a:off x="1371600" y="3127248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결석·이상 신호 발생</a:t>
            </a:r>
            <a:endParaRPr/>
          </a:p>
        </p:txBody>
      </p:sp>
      <p:sp>
        <p:nvSpPr>
          <p:cNvPr id="724" name="Google Shape;724;p19"/>
          <p:cNvSpPr txBox="1"/>
          <p:nvPr/>
        </p:nvSpPr>
        <p:spPr>
          <a:xfrm>
            <a:off x="1143000" y="3502152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1143000" y="3671315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FFFFFF"/>
          </a:solidFill>
          <a:ln cap="flat" cmpd="sng" w="952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 txBox="1"/>
          <p:nvPr/>
        </p:nvSpPr>
        <p:spPr>
          <a:xfrm>
            <a:off x="1371600" y="3671315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명단 일일이 확인</a:t>
            </a:r>
            <a:endParaRPr/>
          </a:p>
        </p:txBody>
      </p:sp>
      <p:sp>
        <p:nvSpPr>
          <p:cNvPr id="727" name="Google Shape;727;p19"/>
          <p:cNvSpPr txBox="1"/>
          <p:nvPr/>
        </p:nvSpPr>
        <p:spPr>
          <a:xfrm>
            <a:off x="1143000" y="4046220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28" name="Google Shape;728;p19"/>
          <p:cNvSpPr/>
          <p:nvPr/>
        </p:nvSpPr>
        <p:spPr>
          <a:xfrm>
            <a:off x="1143000" y="4215383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FFFFFF"/>
          </a:solidFill>
          <a:ln cap="flat" cmpd="sng" w="952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9"/>
          <p:cNvSpPr txBox="1"/>
          <p:nvPr/>
        </p:nvSpPr>
        <p:spPr>
          <a:xfrm>
            <a:off x="1371600" y="4215383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반복 연락·원인 파악</a:t>
            </a:r>
            <a:endParaRPr/>
          </a:p>
        </p:txBody>
      </p:sp>
      <p:sp>
        <p:nvSpPr>
          <p:cNvPr id="730" name="Google Shape;730;p19"/>
          <p:cNvSpPr txBox="1"/>
          <p:nvPr/>
        </p:nvSpPr>
        <p:spPr>
          <a:xfrm>
            <a:off x="1143000" y="4590288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31" name="Google Shape;731;p19"/>
          <p:cNvSpPr/>
          <p:nvPr/>
        </p:nvSpPr>
        <p:spPr>
          <a:xfrm>
            <a:off x="1143000" y="4759451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FFFFFF"/>
          </a:solidFill>
          <a:ln cap="flat" cmpd="sng" w="952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 txBox="1"/>
          <p:nvPr/>
        </p:nvSpPr>
        <p:spPr>
          <a:xfrm>
            <a:off x="1371600" y="4759451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수기 기록</a:t>
            </a:r>
            <a:endParaRPr/>
          </a:p>
        </p:txBody>
      </p:sp>
      <p:sp>
        <p:nvSpPr>
          <p:cNvPr id="733" name="Google Shape;733;p19"/>
          <p:cNvSpPr txBox="1"/>
          <p:nvPr/>
        </p:nvSpPr>
        <p:spPr>
          <a:xfrm>
            <a:off x="1143000" y="5134355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1143000" y="5303519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FFFFFF"/>
          </a:solidFill>
          <a:ln cap="flat" cmpd="sng" w="9525">
            <a:solidFill>
              <a:srgbClr val="E5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 txBox="1"/>
          <p:nvPr/>
        </p:nvSpPr>
        <p:spPr>
          <a:xfrm>
            <a:off x="1371600" y="5303519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늦은 개입 → 이탈 발생</a:t>
            </a:r>
            <a:endParaRPr/>
          </a:p>
        </p:txBody>
      </p:sp>
      <p:sp>
        <p:nvSpPr>
          <p:cNvPr id="736" name="Google Shape;736;p19"/>
          <p:cNvSpPr/>
          <p:nvPr/>
        </p:nvSpPr>
        <p:spPr>
          <a:xfrm>
            <a:off x="5803239" y="3817620"/>
            <a:ext cx="585216" cy="585216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9"/>
          <p:cNvSpPr txBox="1"/>
          <p:nvPr/>
        </p:nvSpPr>
        <p:spPr>
          <a:xfrm>
            <a:off x="5803239" y="38176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6507327" y="2194560"/>
            <a:ext cx="4907127" cy="3886200"/>
          </a:xfrm>
          <a:prstGeom prst="roundRect">
            <a:avLst>
              <a:gd fmla="val 5176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6507327" y="2194560"/>
            <a:ext cx="4907127" cy="118872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6873087" y="2514600"/>
            <a:ext cx="2514600" cy="402336"/>
          </a:xfrm>
          <a:prstGeom prst="roundRect">
            <a:avLst>
              <a:gd fmla="val 50000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내일은행 도입  After</a:t>
            </a:r>
            <a:endParaRPr/>
          </a:p>
        </p:txBody>
      </p:sp>
      <p:sp>
        <p:nvSpPr>
          <p:cNvPr id="741" name="Google Shape;741;p19"/>
          <p:cNvSpPr/>
          <p:nvPr/>
        </p:nvSpPr>
        <p:spPr>
          <a:xfrm>
            <a:off x="6873087" y="3127248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 txBox="1"/>
          <p:nvPr/>
        </p:nvSpPr>
        <p:spPr>
          <a:xfrm>
            <a:off x="7101687" y="3127248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30초 시간문진 매일 수집</a:t>
            </a:r>
            <a:endParaRPr/>
          </a:p>
        </p:txBody>
      </p:sp>
      <p:sp>
        <p:nvSpPr>
          <p:cNvPr id="743" name="Google Shape;743;p19"/>
          <p:cNvSpPr txBox="1"/>
          <p:nvPr/>
        </p:nvSpPr>
        <p:spPr>
          <a:xfrm>
            <a:off x="6873087" y="3502152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44" name="Google Shape;744;p19"/>
          <p:cNvSpPr/>
          <p:nvPr/>
        </p:nvSpPr>
        <p:spPr>
          <a:xfrm>
            <a:off x="6873087" y="3671315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9"/>
          <p:cNvSpPr txBox="1"/>
          <p:nvPr/>
        </p:nvSpPr>
        <p:spPr>
          <a:xfrm>
            <a:off x="7101687" y="3671315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V6 상태 분류(3-class)</a:t>
            </a:r>
            <a:endParaRPr/>
          </a:p>
        </p:txBody>
      </p:sp>
      <p:sp>
        <p:nvSpPr>
          <p:cNvPr id="746" name="Google Shape;746;p19"/>
          <p:cNvSpPr txBox="1"/>
          <p:nvPr/>
        </p:nvSpPr>
        <p:spPr>
          <a:xfrm>
            <a:off x="6873087" y="4046220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47" name="Google Shape;747;p19"/>
          <p:cNvSpPr/>
          <p:nvPr/>
        </p:nvSpPr>
        <p:spPr>
          <a:xfrm>
            <a:off x="6873087" y="4215383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9"/>
          <p:cNvSpPr txBox="1"/>
          <p:nvPr/>
        </p:nvSpPr>
        <p:spPr>
          <a:xfrm>
            <a:off x="7101687" y="4215383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운영데이터 결합·관심학생 선별</a:t>
            </a:r>
            <a:endParaRPr/>
          </a:p>
        </p:txBody>
      </p:sp>
      <p:sp>
        <p:nvSpPr>
          <p:cNvPr id="749" name="Google Shape;749;p19"/>
          <p:cNvSpPr txBox="1"/>
          <p:nvPr/>
        </p:nvSpPr>
        <p:spPr>
          <a:xfrm>
            <a:off x="6873087" y="4590288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6873087" y="4759451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9"/>
          <p:cNvSpPr txBox="1"/>
          <p:nvPr/>
        </p:nvSpPr>
        <p:spPr>
          <a:xfrm>
            <a:off x="7101687" y="4759451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코치 선택적 개입</a:t>
            </a:r>
            <a:endParaRPr/>
          </a:p>
        </p:txBody>
      </p:sp>
      <p:sp>
        <p:nvSpPr>
          <p:cNvPr id="752" name="Google Shape;752;p19"/>
          <p:cNvSpPr txBox="1"/>
          <p:nvPr/>
        </p:nvSpPr>
        <p:spPr>
          <a:xfrm>
            <a:off x="6873087" y="5134355"/>
            <a:ext cx="41756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753" name="Google Shape;753;p19"/>
          <p:cNvSpPr/>
          <p:nvPr/>
        </p:nvSpPr>
        <p:spPr>
          <a:xfrm>
            <a:off x="6873087" y="5303519"/>
            <a:ext cx="4175607" cy="402336"/>
          </a:xfrm>
          <a:prstGeom prst="roundRect">
            <a:avLst>
              <a:gd fmla="val 29545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9"/>
          <p:cNvSpPr txBox="1"/>
          <p:nvPr/>
        </p:nvSpPr>
        <p:spPr>
          <a:xfrm>
            <a:off x="7101687" y="5303519"/>
            <a:ext cx="3901287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개입결과 축적·모델 고도화</a:t>
            </a:r>
            <a:endParaRPr/>
          </a:p>
        </p:txBody>
      </p:sp>
      <p:sp>
        <p:nvSpPr>
          <p:cNvPr id="755" name="Google Shape;755;p19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0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0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기대효과 · EXPECTED IMPACT</a:t>
            </a:r>
            <a:endParaRPr/>
          </a:p>
        </p:txBody>
      </p:sp>
      <p:sp>
        <p:nvSpPr>
          <p:cNvPr id="762" name="Google Shape;762;p20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엘리스가 얻는 5가지 가치</a:t>
            </a:r>
            <a:endParaRPr/>
          </a:p>
        </p:txBody>
      </p:sp>
      <p:sp>
        <p:nvSpPr>
          <p:cNvPr id="763" name="Google Shape;763;p20"/>
          <p:cNvSpPr/>
          <p:nvPr/>
        </p:nvSpPr>
        <p:spPr>
          <a:xfrm>
            <a:off x="777240" y="1600200"/>
            <a:ext cx="1922617" cy="3200400"/>
          </a:xfrm>
          <a:prstGeom prst="roundRect">
            <a:avLst>
              <a:gd fmla="val 95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0"/>
          <p:cNvSpPr/>
          <p:nvPr/>
        </p:nvSpPr>
        <p:spPr>
          <a:xfrm>
            <a:off x="777240" y="1600200"/>
            <a:ext cx="1922617" cy="10972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923543" y="1920240"/>
            <a:ext cx="493776" cy="49377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66" name="Google Shape;766;p20"/>
          <p:cNvSpPr txBox="1"/>
          <p:nvPr/>
        </p:nvSpPr>
        <p:spPr>
          <a:xfrm>
            <a:off x="923543" y="2606040"/>
            <a:ext cx="1527049" cy="22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매일 상태자동 수집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0"/>
          <p:cNvSpPr txBox="1"/>
          <p:nvPr/>
        </p:nvSpPr>
        <p:spPr>
          <a:xfrm>
            <a:off x="923543" y="3383280"/>
            <a:ext cx="1648969" cy="650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코치가 묻지 않아도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수업 종료 흐름에서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학생 상태가 매일 쌓인다.</a:t>
            </a:r>
            <a:endParaRPr/>
          </a:p>
        </p:txBody>
      </p:sp>
      <p:sp>
        <p:nvSpPr>
          <p:cNvPr id="768" name="Google Shape;768;p20"/>
          <p:cNvSpPr/>
          <p:nvPr/>
        </p:nvSpPr>
        <p:spPr>
          <a:xfrm>
            <a:off x="2955889" y="1600200"/>
            <a:ext cx="1922617" cy="3200400"/>
          </a:xfrm>
          <a:prstGeom prst="roundRect">
            <a:avLst>
              <a:gd fmla="val 95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2955889" y="1600200"/>
            <a:ext cx="1922617" cy="109728"/>
          </a:xfrm>
          <a:prstGeom prst="rect">
            <a:avLst/>
          </a:prstGeom>
          <a:solidFill>
            <a:srgbClr val="15C4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3102193" y="1920240"/>
            <a:ext cx="493776" cy="493776"/>
          </a:xfrm>
          <a:prstGeom prst="roundRect">
            <a:avLst>
              <a:gd fmla="val 50000" name="adj"/>
            </a:avLst>
          </a:prstGeom>
          <a:solidFill>
            <a:srgbClr val="15C47E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71" name="Google Shape;771;p20"/>
          <p:cNvSpPr txBox="1"/>
          <p:nvPr/>
        </p:nvSpPr>
        <p:spPr>
          <a:xfrm>
            <a:off x="3102193" y="2606040"/>
            <a:ext cx="1555151" cy="22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표면화 전 선제 신호</a:t>
            </a:r>
            <a:endParaRPr/>
          </a:p>
        </p:txBody>
      </p:sp>
      <p:sp>
        <p:nvSpPr>
          <p:cNvPr id="772" name="Google Shape;772;p20"/>
          <p:cNvSpPr txBox="1"/>
          <p:nvPr/>
        </p:nvSpPr>
        <p:spPr>
          <a:xfrm>
            <a:off x="3102193" y="3383280"/>
            <a:ext cx="1555151" cy="650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출결·과제 지연을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기다리지 않고 상태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신호를 먼저 확보.</a:t>
            </a: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5134538" y="1600200"/>
            <a:ext cx="1922617" cy="3200400"/>
          </a:xfrm>
          <a:prstGeom prst="roundRect">
            <a:avLst>
              <a:gd fmla="val 95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5134538" y="1600200"/>
            <a:ext cx="1922617" cy="10972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5280842" y="1920240"/>
            <a:ext cx="493776" cy="493776"/>
          </a:xfrm>
          <a:prstGeom prst="roundRect">
            <a:avLst>
              <a:gd fmla="val 50000" name="adj"/>
            </a:avLst>
          </a:prstGeom>
          <a:solidFill>
            <a:srgbClr val="FF9500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76" name="Google Shape;776;p20"/>
          <p:cNvSpPr txBox="1"/>
          <p:nvPr/>
        </p:nvSpPr>
        <p:spPr>
          <a:xfrm>
            <a:off x="5280842" y="2606040"/>
            <a:ext cx="146541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학생도 이해하는 등급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0"/>
          <p:cNvSpPr txBox="1"/>
          <p:nvPr/>
        </p:nvSpPr>
        <p:spPr>
          <a:xfrm>
            <a:off x="5280842" y="3383280"/>
            <a:ext cx="1675730" cy="42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3분류를 1~9 회복등급으로 번역해 지속 참여를 유도.</a:t>
            </a:r>
            <a:endParaRPr/>
          </a:p>
        </p:txBody>
      </p:sp>
      <p:sp>
        <p:nvSpPr>
          <p:cNvPr id="778" name="Google Shape;778;p20"/>
          <p:cNvSpPr/>
          <p:nvPr/>
        </p:nvSpPr>
        <p:spPr>
          <a:xfrm>
            <a:off x="7313188" y="1600200"/>
            <a:ext cx="1922617" cy="3200400"/>
          </a:xfrm>
          <a:prstGeom prst="roundRect">
            <a:avLst>
              <a:gd fmla="val 95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7313188" y="1600200"/>
            <a:ext cx="1922617" cy="109728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0"/>
          <p:cNvSpPr/>
          <p:nvPr/>
        </p:nvSpPr>
        <p:spPr>
          <a:xfrm>
            <a:off x="7459492" y="1920240"/>
            <a:ext cx="493776" cy="493776"/>
          </a:xfrm>
          <a:prstGeom prst="roundRect">
            <a:avLst>
              <a:gd fmla="val 50000" name="adj"/>
            </a:avLst>
          </a:prstGeom>
          <a:solidFill>
            <a:srgbClr val="F04452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81" name="Google Shape;781;p20"/>
          <p:cNvSpPr txBox="1"/>
          <p:nvPr/>
        </p:nvSpPr>
        <p:spPr>
          <a:xfrm>
            <a:off x="7459492" y="2606040"/>
            <a:ext cx="1721449" cy="460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먼저 확인할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학생 선별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0"/>
          <p:cNvSpPr txBox="1"/>
          <p:nvPr/>
        </p:nvSpPr>
        <p:spPr>
          <a:xfrm>
            <a:off x="7459492" y="3383280"/>
            <a:ext cx="1675729" cy="650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전수 확인 대신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관심학생만 우선 노출,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코치 시간을 집중.</a:t>
            </a:r>
            <a:endParaRPr/>
          </a:p>
        </p:txBody>
      </p:sp>
      <p:sp>
        <p:nvSpPr>
          <p:cNvPr id="783" name="Google Shape;783;p20"/>
          <p:cNvSpPr/>
          <p:nvPr/>
        </p:nvSpPr>
        <p:spPr>
          <a:xfrm>
            <a:off x="9491837" y="1600200"/>
            <a:ext cx="1922617" cy="3200400"/>
          </a:xfrm>
          <a:prstGeom prst="roundRect">
            <a:avLst>
              <a:gd fmla="val 95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9491837" y="1600200"/>
            <a:ext cx="1922617" cy="10972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9638141" y="1920240"/>
            <a:ext cx="493776" cy="49377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86" name="Google Shape;786;p20"/>
          <p:cNvSpPr txBox="1"/>
          <p:nvPr/>
        </p:nvSpPr>
        <p:spPr>
          <a:xfrm>
            <a:off x="9638141" y="2606040"/>
            <a:ext cx="1540847" cy="22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엘리스 전용 자산화</a:t>
            </a:r>
            <a:endParaRPr b="1" i="0" sz="14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0"/>
          <p:cNvSpPr txBox="1"/>
          <p:nvPr/>
        </p:nvSpPr>
        <p:spPr>
          <a:xfrm>
            <a:off x="9638141" y="3383280"/>
            <a:ext cx="1630316" cy="650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상태·활동·개입 데이터가 쌓여 엘리스 전용 탐지</a:t>
            </a:r>
            <a:endParaRPr b="0" i="0" sz="110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모델로 발전.</a:t>
            </a:r>
            <a:endParaRPr/>
          </a:p>
        </p:txBody>
      </p:sp>
      <p:sp>
        <p:nvSpPr>
          <p:cNvPr id="788" name="Google Shape;788;p20"/>
          <p:cNvSpPr/>
          <p:nvPr/>
        </p:nvSpPr>
        <p:spPr>
          <a:xfrm>
            <a:off x="777240" y="5120640"/>
            <a:ext cx="10637215" cy="1051560"/>
          </a:xfrm>
          <a:prstGeom prst="roundRect">
            <a:avLst>
              <a:gd fmla="val 19130" name="adj"/>
            </a:avLst>
          </a:prstGeom>
          <a:solidFill>
            <a:srgbClr val="19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1188720" y="5472683"/>
            <a:ext cx="347472" cy="347472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 txBox="1"/>
          <p:nvPr/>
        </p:nvSpPr>
        <p:spPr>
          <a:xfrm>
            <a:off x="1188720" y="5472683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791" name="Google Shape;791;p20"/>
          <p:cNvSpPr txBox="1"/>
          <p:nvPr/>
        </p:nvSpPr>
        <p:spPr>
          <a:xfrm>
            <a:off x="1828800" y="5120640"/>
            <a:ext cx="917417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모든 학생을 관리하는 시스템에서, </a:t>
            </a:r>
            <a:r>
              <a:rPr b="1" i="0" lang="en-US" sz="15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필요한 학생을 먼저 발견하는 엘리스 전용 운영 시스템</a:t>
            </a: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으로 바꿉니다.</a:t>
            </a:r>
            <a:endParaRPr/>
          </a:p>
        </p:txBody>
      </p:sp>
      <p:sp>
        <p:nvSpPr>
          <p:cNvPr id="792" name="Google Shape;792;p20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1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1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5 · 액션플랜</a:t>
            </a:r>
            <a:endParaRPr/>
          </a:p>
        </p:txBody>
      </p:sp>
      <p:sp>
        <p:nvSpPr>
          <p:cNvPr id="799" name="Google Shape;799;p21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엘리스 도입 흐름 — 붙이고, 쌓고, 전용화</a:t>
            </a:r>
            <a:endParaRPr/>
          </a:p>
        </p:txBody>
      </p:sp>
      <p:sp>
        <p:nvSpPr>
          <p:cNvPr id="800" name="Google Shape;800;p21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현재 확보한 수집을 엘리스 운영 흐름에 붙이고, 사용할수록 엘리스 전용 시스템으로 발전시키는 도입 계획입니다.</a:t>
            </a:r>
            <a:endParaRPr/>
          </a:p>
        </p:txBody>
      </p:sp>
      <p:sp>
        <p:nvSpPr>
          <p:cNvPr id="801" name="Google Shape;801;p21"/>
          <p:cNvSpPr/>
          <p:nvPr/>
        </p:nvSpPr>
        <p:spPr>
          <a:xfrm>
            <a:off x="777240" y="3840480"/>
            <a:ext cx="5135727" cy="1874519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1"/>
          <p:cNvSpPr/>
          <p:nvPr/>
        </p:nvSpPr>
        <p:spPr>
          <a:xfrm>
            <a:off x="777240" y="3840480"/>
            <a:ext cx="5135727" cy="118872"/>
          </a:xfrm>
          <a:prstGeom prst="rect">
            <a:avLst/>
          </a:prstGeom>
          <a:solidFill>
            <a:srgbClr val="15C4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1"/>
          <p:cNvSpPr txBox="1"/>
          <p:nvPr/>
        </p:nvSpPr>
        <p:spPr>
          <a:xfrm>
            <a:off x="1188720" y="4160520"/>
            <a:ext cx="43127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학생용 · 회복신용도 API</a:t>
            </a:r>
            <a:endParaRPr/>
          </a:p>
        </p:txBody>
      </p:sp>
      <p:sp>
        <p:nvSpPr>
          <p:cNvPr id="804" name="Google Shape;804;p21"/>
          <p:cNvSpPr txBox="1"/>
          <p:nvPr/>
        </p:nvSpPr>
        <p:spPr>
          <a:xfrm>
            <a:off x="1188720" y="4709160"/>
            <a:ext cx="43127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당일 회복등급·점수와 습관 피드백을 앱 카드로 반환. 이해·참여·공유를 통해 자기관리를 유도합니다.</a:t>
            </a:r>
            <a:endParaRPr/>
          </a:p>
        </p:txBody>
      </p:sp>
      <p:sp>
        <p:nvSpPr>
          <p:cNvPr id="805" name="Google Shape;805;p21"/>
          <p:cNvSpPr/>
          <p:nvPr/>
        </p:nvSpPr>
        <p:spPr>
          <a:xfrm>
            <a:off x="6278727" y="3840480"/>
            <a:ext cx="5135727" cy="1874519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1"/>
          <p:cNvSpPr/>
          <p:nvPr/>
        </p:nvSpPr>
        <p:spPr>
          <a:xfrm>
            <a:off x="6278727" y="3840480"/>
            <a:ext cx="5135727" cy="11887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1"/>
          <p:cNvSpPr txBox="1"/>
          <p:nvPr/>
        </p:nvSpPr>
        <p:spPr>
          <a:xfrm>
            <a:off x="6690207" y="4160520"/>
            <a:ext cx="43127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9500"/>
                </a:solidFill>
                <a:latin typeface="Arial"/>
                <a:ea typeface="Arial"/>
                <a:cs typeface="Arial"/>
                <a:sym typeface="Arial"/>
              </a:rPr>
              <a:t>코치용 · 관심학생 우선순위 API</a:t>
            </a:r>
            <a:endParaRPr/>
          </a:p>
        </p:txBody>
      </p:sp>
      <p:sp>
        <p:nvSpPr>
          <p:cNvPr id="808" name="Google Shape;808;p21"/>
          <p:cNvSpPr txBox="1"/>
          <p:nvPr/>
        </p:nvSpPr>
        <p:spPr>
          <a:xfrm>
            <a:off x="6690207" y="4709160"/>
            <a:ext cx="43127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반복 상태·활동 불일치·학습 지연을 근거로 «먼저 확인할 학생»을 큐로 제공. 자동 제재가 아닌 코치 확인을 보조합니다.</a:t>
            </a:r>
            <a:endParaRPr/>
          </a:p>
        </p:txBody>
      </p:sp>
      <p:sp>
        <p:nvSpPr>
          <p:cNvPr id="809" name="Google Shape;809;p21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1"/>
          <p:cNvSpPr/>
          <p:nvPr/>
        </p:nvSpPr>
        <p:spPr>
          <a:xfrm>
            <a:off x="777240" y="2057400"/>
            <a:ext cx="2316403" cy="1417320"/>
          </a:xfrm>
          <a:prstGeom prst="roundRect">
            <a:avLst>
              <a:gd fmla="val 116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1" name="Google Shape;811;p21"/>
          <p:cNvGrpSpPr/>
          <p:nvPr/>
        </p:nvGrpSpPr>
        <p:grpSpPr>
          <a:xfrm>
            <a:off x="1051560" y="2203704"/>
            <a:ext cx="1904922" cy="457200"/>
            <a:chOff x="1051560" y="2313432"/>
            <a:chExt cx="1904922" cy="457200"/>
          </a:xfrm>
        </p:grpSpPr>
        <p:sp>
          <p:nvSpPr>
            <p:cNvPr id="812" name="Google Shape;812;p21"/>
            <p:cNvSpPr/>
            <p:nvPr/>
          </p:nvSpPr>
          <p:spPr>
            <a:xfrm>
              <a:off x="1051560" y="2313432"/>
              <a:ext cx="457200" cy="457200"/>
            </a:xfrm>
            <a:prstGeom prst="roundRect">
              <a:avLst>
                <a:gd fmla="val 50000" name="adj"/>
              </a:avLst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18275" lIns="45700" spcFirstLastPara="1" rIns="45700" wrap="square" tIns="18275">
              <a:no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①</a:t>
              </a:r>
              <a:endParaRPr/>
            </a:p>
          </p:txBody>
        </p:sp>
        <p:sp>
          <p:nvSpPr>
            <p:cNvPr id="813" name="Google Shape;813;p21"/>
            <p:cNvSpPr txBox="1"/>
            <p:nvPr/>
          </p:nvSpPr>
          <p:spPr>
            <a:xfrm>
              <a:off x="1645919" y="2313432"/>
              <a:ext cx="13105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결합</a:t>
              </a:r>
              <a:endParaRPr/>
            </a:p>
          </p:txBody>
        </p:sp>
      </p:grpSp>
      <p:sp>
        <p:nvSpPr>
          <p:cNvPr id="814" name="Google Shape;814;p21"/>
          <p:cNvSpPr txBox="1"/>
          <p:nvPr/>
        </p:nvSpPr>
        <p:spPr>
          <a:xfrm>
            <a:off x="1152144" y="2843784"/>
            <a:ext cx="1767763" cy="387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기존 수업 종료 흐름에 30초</a:t>
            </a:r>
            <a:endParaRPr b="0" i="0" sz="10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시간문진 결합</a:t>
            </a:r>
            <a:endParaRPr b="0" i="0" sz="10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1"/>
          <p:cNvSpPr txBox="1"/>
          <p:nvPr/>
        </p:nvSpPr>
        <p:spPr>
          <a:xfrm>
            <a:off x="3111931" y="2057400"/>
            <a:ext cx="42062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16" name="Google Shape;816;p21"/>
          <p:cNvSpPr/>
          <p:nvPr/>
        </p:nvSpPr>
        <p:spPr>
          <a:xfrm>
            <a:off x="3550843" y="2057400"/>
            <a:ext cx="2316403" cy="1417320"/>
          </a:xfrm>
          <a:prstGeom prst="roundRect">
            <a:avLst>
              <a:gd fmla="val 116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7" name="Google Shape;817;p21"/>
          <p:cNvGrpSpPr/>
          <p:nvPr/>
        </p:nvGrpSpPr>
        <p:grpSpPr>
          <a:xfrm>
            <a:off x="3825163" y="2203704"/>
            <a:ext cx="1904923" cy="457200"/>
            <a:chOff x="3825163" y="2313432"/>
            <a:chExt cx="1904923" cy="457200"/>
          </a:xfrm>
        </p:grpSpPr>
        <p:sp>
          <p:nvSpPr>
            <p:cNvPr id="818" name="Google Shape;818;p21"/>
            <p:cNvSpPr/>
            <p:nvPr/>
          </p:nvSpPr>
          <p:spPr>
            <a:xfrm>
              <a:off x="3825163" y="2313432"/>
              <a:ext cx="457200" cy="457200"/>
            </a:xfrm>
            <a:prstGeom prst="roundRect">
              <a:avLst>
                <a:gd fmla="val 50000" name="adj"/>
              </a:avLst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18275" lIns="45700" spcFirstLastPara="1" rIns="45700" wrap="square" tIns="18275">
              <a:no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②</a:t>
              </a:r>
              <a:endParaRPr/>
            </a:p>
          </p:txBody>
        </p:sp>
        <p:sp>
          <p:nvSpPr>
            <p:cNvPr id="819" name="Google Shape;819;p21"/>
            <p:cNvSpPr txBox="1"/>
            <p:nvPr/>
          </p:nvSpPr>
          <p:spPr>
            <a:xfrm>
              <a:off x="4419523" y="2313432"/>
              <a:ext cx="13105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분류</a:t>
              </a:r>
              <a:endParaRPr/>
            </a:p>
          </p:txBody>
        </p:sp>
      </p:grpSp>
      <p:sp>
        <p:nvSpPr>
          <p:cNvPr id="820" name="Google Shape;820;p21"/>
          <p:cNvSpPr txBox="1"/>
          <p:nvPr/>
        </p:nvSpPr>
        <p:spPr>
          <a:xfrm>
            <a:off x="3925747" y="2843784"/>
            <a:ext cx="1767763" cy="387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V6이 매일 상태를</a:t>
            </a:r>
            <a:endParaRPr b="0" i="0" sz="10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fit·at-risk·unhealthy로 분류</a:t>
            </a:r>
            <a:endParaRPr b="0" i="0" sz="10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1"/>
          <p:cNvSpPr txBox="1"/>
          <p:nvPr/>
        </p:nvSpPr>
        <p:spPr>
          <a:xfrm>
            <a:off x="5885535" y="2057400"/>
            <a:ext cx="42062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22" name="Google Shape;822;p21"/>
          <p:cNvSpPr/>
          <p:nvPr/>
        </p:nvSpPr>
        <p:spPr>
          <a:xfrm>
            <a:off x="6324447" y="2057400"/>
            <a:ext cx="2316403" cy="1417320"/>
          </a:xfrm>
          <a:prstGeom prst="roundRect">
            <a:avLst>
              <a:gd fmla="val 116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3" name="Google Shape;823;p21"/>
          <p:cNvGrpSpPr/>
          <p:nvPr/>
        </p:nvGrpSpPr>
        <p:grpSpPr>
          <a:xfrm>
            <a:off x="6598767" y="2203704"/>
            <a:ext cx="1904923" cy="457200"/>
            <a:chOff x="6598767" y="2313432"/>
            <a:chExt cx="1904923" cy="457200"/>
          </a:xfrm>
        </p:grpSpPr>
        <p:sp>
          <p:nvSpPr>
            <p:cNvPr id="824" name="Google Shape;824;p21"/>
            <p:cNvSpPr/>
            <p:nvPr/>
          </p:nvSpPr>
          <p:spPr>
            <a:xfrm>
              <a:off x="6598767" y="2313432"/>
              <a:ext cx="457200" cy="457200"/>
            </a:xfrm>
            <a:prstGeom prst="roundRect">
              <a:avLst>
                <a:gd fmla="val 50000" name="adj"/>
              </a:avLst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18275" lIns="45700" spcFirstLastPara="1" rIns="45700" wrap="square" tIns="18275">
              <a:no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③</a:t>
              </a:r>
              <a:endParaRPr/>
            </a:p>
          </p:txBody>
        </p:sp>
        <p:sp>
          <p:nvSpPr>
            <p:cNvPr id="825" name="Google Shape;825;p21"/>
            <p:cNvSpPr txBox="1"/>
            <p:nvPr/>
          </p:nvSpPr>
          <p:spPr>
            <a:xfrm>
              <a:off x="7193127" y="2313432"/>
              <a:ext cx="13105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전달</a:t>
              </a:r>
              <a:endParaRPr/>
            </a:p>
          </p:txBody>
        </p:sp>
      </p:grpSp>
      <p:sp>
        <p:nvSpPr>
          <p:cNvPr id="826" name="Google Shape;826;p21"/>
          <p:cNvSpPr txBox="1"/>
          <p:nvPr/>
        </p:nvSpPr>
        <p:spPr>
          <a:xfrm>
            <a:off x="6699351" y="2843784"/>
            <a:ext cx="1767763" cy="387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학생에겐 1~9 회복등급,</a:t>
            </a:r>
            <a:endParaRPr b="0" i="0" sz="10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코치에겐 관심학생 큐</a:t>
            </a:r>
            <a:endParaRPr/>
          </a:p>
        </p:txBody>
      </p:sp>
      <p:sp>
        <p:nvSpPr>
          <p:cNvPr id="827" name="Google Shape;827;p21"/>
          <p:cNvSpPr txBox="1"/>
          <p:nvPr/>
        </p:nvSpPr>
        <p:spPr>
          <a:xfrm>
            <a:off x="8659139" y="2057400"/>
            <a:ext cx="42062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28" name="Google Shape;828;p21"/>
          <p:cNvSpPr/>
          <p:nvPr/>
        </p:nvSpPr>
        <p:spPr>
          <a:xfrm>
            <a:off x="9098051" y="2057400"/>
            <a:ext cx="2316403" cy="1417320"/>
          </a:xfrm>
          <a:prstGeom prst="roundRect">
            <a:avLst>
              <a:gd fmla="val 1161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9" name="Google Shape;829;p21"/>
          <p:cNvGrpSpPr/>
          <p:nvPr/>
        </p:nvGrpSpPr>
        <p:grpSpPr>
          <a:xfrm>
            <a:off x="9372371" y="2203704"/>
            <a:ext cx="1904923" cy="457200"/>
            <a:chOff x="9372371" y="2313432"/>
            <a:chExt cx="1904923" cy="457200"/>
          </a:xfrm>
        </p:grpSpPr>
        <p:sp>
          <p:nvSpPr>
            <p:cNvPr id="830" name="Google Shape;830;p21"/>
            <p:cNvSpPr/>
            <p:nvPr/>
          </p:nvSpPr>
          <p:spPr>
            <a:xfrm>
              <a:off x="9372371" y="2313432"/>
              <a:ext cx="457200" cy="457200"/>
            </a:xfrm>
            <a:prstGeom prst="roundRect">
              <a:avLst>
                <a:gd fmla="val 50000" name="adj"/>
              </a:avLst>
            </a:prstGeom>
            <a:solidFill>
              <a:srgbClr val="3182F6"/>
            </a:solidFill>
            <a:ln>
              <a:noFill/>
            </a:ln>
          </p:spPr>
          <p:txBody>
            <a:bodyPr anchorCtr="0" anchor="ctr" bIns="18275" lIns="45700" spcFirstLastPara="1" rIns="45700" wrap="square" tIns="18275">
              <a:no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④</a:t>
              </a:r>
              <a:endParaRPr/>
            </a:p>
          </p:txBody>
        </p:sp>
        <p:sp>
          <p:nvSpPr>
            <p:cNvPr id="831" name="Google Shape;831;p21"/>
            <p:cNvSpPr txBox="1"/>
            <p:nvPr/>
          </p:nvSpPr>
          <p:spPr>
            <a:xfrm>
              <a:off x="9966731" y="2313432"/>
              <a:ext cx="13105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고도화</a:t>
              </a:r>
              <a:endParaRPr/>
            </a:p>
          </p:txBody>
        </p:sp>
      </p:grpSp>
      <p:sp>
        <p:nvSpPr>
          <p:cNvPr id="832" name="Google Shape;832;p21"/>
          <p:cNvSpPr txBox="1"/>
          <p:nvPr/>
        </p:nvSpPr>
        <p:spPr>
          <a:xfrm>
            <a:off x="9472955" y="2843784"/>
            <a:ext cx="1767763" cy="387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코치 선택적 개입 후 결과를</a:t>
            </a:r>
            <a:endParaRPr b="0" i="0" sz="10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축적해 전용 모델로</a:t>
            </a:r>
            <a:endParaRPr b="0" i="0" sz="1050" u="none" cap="none" strike="noStrike">
              <a:solidFill>
                <a:srgbClr val="33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2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2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5 · 액션플랜</a:t>
            </a:r>
            <a:endParaRPr/>
          </a:p>
        </p:txBody>
      </p:sp>
      <p:sp>
        <p:nvSpPr>
          <p:cNvPr id="839" name="Google Shape;839;p22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현재 검증 범위에서, 엘리스 전용 관심학생 시스템으로</a:t>
            </a:r>
            <a:endParaRPr/>
          </a:p>
        </p:txBody>
      </p:sp>
      <p:sp>
        <p:nvSpPr>
          <p:cNvPr id="840" name="Google Shape;840;p22"/>
          <p:cNvSpPr txBox="1"/>
          <p:nvPr/>
        </p:nvSpPr>
        <p:spPr>
          <a:xfrm>
            <a:off x="777240" y="1444752"/>
            <a:ext cx="10637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한계를 숨기지 않고, «지금 검증된 것 → 엘리스에 적용하는 단계 → 쌓여서 만들어질 결과»로 이어서 봅니다.</a:t>
            </a:r>
            <a:endParaRPr/>
          </a:p>
        </p:txBody>
      </p:sp>
      <p:sp>
        <p:nvSpPr>
          <p:cNvPr id="841" name="Google Shape;841;p22"/>
          <p:cNvSpPr/>
          <p:nvPr/>
        </p:nvSpPr>
        <p:spPr>
          <a:xfrm>
            <a:off x="777240" y="2057400"/>
            <a:ext cx="3362858" cy="3977639"/>
          </a:xfrm>
          <a:prstGeom prst="roundRect">
            <a:avLst>
              <a:gd fmla="val 543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2"/>
          <p:cNvSpPr/>
          <p:nvPr/>
        </p:nvSpPr>
        <p:spPr>
          <a:xfrm>
            <a:off x="777240" y="2057400"/>
            <a:ext cx="3362858" cy="548640"/>
          </a:xfrm>
          <a:prstGeom prst="rect">
            <a:avLst/>
          </a:prstGeom>
          <a:solidFill>
            <a:srgbClr val="8B95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2"/>
          <p:cNvSpPr txBox="1"/>
          <p:nvPr/>
        </p:nvSpPr>
        <p:spPr>
          <a:xfrm>
            <a:off x="777240" y="2057400"/>
            <a:ext cx="33628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현재 검증 범위</a:t>
            </a:r>
            <a:endParaRPr/>
          </a:p>
        </p:txBody>
      </p:sp>
      <p:sp>
        <p:nvSpPr>
          <p:cNvPr id="844" name="Google Shape;844;p22"/>
          <p:cNvSpPr/>
          <p:nvPr/>
        </p:nvSpPr>
        <p:spPr>
          <a:xfrm>
            <a:off x="1033271" y="2834640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2"/>
          <p:cNvSpPr txBox="1"/>
          <p:nvPr/>
        </p:nvSpPr>
        <p:spPr>
          <a:xfrm>
            <a:off x="1188720" y="2834640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건강상태 3분류</a:t>
            </a:r>
            <a:endParaRPr/>
          </a:p>
        </p:txBody>
      </p:sp>
      <p:sp>
        <p:nvSpPr>
          <p:cNvPr id="846" name="Google Shape;846;p22"/>
          <p:cNvSpPr/>
          <p:nvPr/>
        </p:nvSpPr>
        <p:spPr>
          <a:xfrm>
            <a:off x="1033271" y="3602736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2"/>
          <p:cNvSpPr txBox="1"/>
          <p:nvPr/>
        </p:nvSpPr>
        <p:spPr>
          <a:xfrm>
            <a:off x="1188720" y="3602736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단일 시점 데이터</a:t>
            </a:r>
            <a:endParaRPr/>
          </a:p>
        </p:txBody>
      </p:sp>
      <p:sp>
        <p:nvSpPr>
          <p:cNvPr id="848" name="Google Shape;848;p22"/>
          <p:cNvSpPr/>
          <p:nvPr/>
        </p:nvSpPr>
        <p:spPr>
          <a:xfrm>
            <a:off x="1033271" y="4370832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2"/>
          <p:cNvSpPr txBox="1"/>
          <p:nvPr/>
        </p:nvSpPr>
        <p:spPr>
          <a:xfrm>
            <a:off x="1188720" y="4370832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일부 과잉경보</a:t>
            </a:r>
            <a:endParaRPr/>
          </a:p>
        </p:txBody>
      </p:sp>
      <p:sp>
        <p:nvSpPr>
          <p:cNvPr id="850" name="Google Shape;850;p22"/>
          <p:cNvSpPr/>
          <p:nvPr/>
        </p:nvSpPr>
        <p:spPr>
          <a:xfrm>
            <a:off x="1033271" y="5138928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2"/>
          <p:cNvSpPr txBox="1"/>
          <p:nvPr/>
        </p:nvSpPr>
        <p:spPr>
          <a:xfrm>
            <a:off x="1188720" y="5138928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rPr>
              <a:t>범용 상태데이터</a:t>
            </a:r>
            <a:endParaRPr/>
          </a:p>
        </p:txBody>
      </p:sp>
      <p:sp>
        <p:nvSpPr>
          <p:cNvPr id="852" name="Google Shape;852;p22"/>
          <p:cNvSpPr txBox="1"/>
          <p:nvPr/>
        </p:nvSpPr>
        <p:spPr>
          <a:xfrm>
            <a:off x="4121810" y="2834640"/>
            <a:ext cx="310896" cy="3200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4414418" y="2057400"/>
            <a:ext cx="3362858" cy="3977639"/>
          </a:xfrm>
          <a:prstGeom prst="roundRect">
            <a:avLst>
              <a:gd fmla="val 543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2"/>
          <p:cNvSpPr/>
          <p:nvPr/>
        </p:nvSpPr>
        <p:spPr>
          <a:xfrm>
            <a:off x="4414418" y="2057400"/>
            <a:ext cx="3362858" cy="54864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2"/>
          <p:cNvSpPr txBox="1"/>
          <p:nvPr/>
        </p:nvSpPr>
        <p:spPr>
          <a:xfrm>
            <a:off x="4414418" y="2057400"/>
            <a:ext cx="33628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엘리스 적용 단계</a:t>
            </a:r>
            <a:endParaRPr/>
          </a:p>
        </p:txBody>
      </p:sp>
      <p:sp>
        <p:nvSpPr>
          <p:cNvPr id="856" name="Google Shape;856;p22"/>
          <p:cNvSpPr/>
          <p:nvPr/>
        </p:nvSpPr>
        <p:spPr>
          <a:xfrm>
            <a:off x="4670450" y="2834640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2"/>
          <p:cNvSpPr txBox="1"/>
          <p:nvPr/>
        </p:nvSpPr>
        <p:spPr>
          <a:xfrm>
            <a:off x="4825898" y="2834640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상태와 학습행동의 선행관계 검증</a:t>
            </a:r>
            <a:endParaRPr/>
          </a:p>
        </p:txBody>
      </p:sp>
      <p:sp>
        <p:nvSpPr>
          <p:cNvPr id="858" name="Google Shape;858;p22"/>
          <p:cNvSpPr/>
          <p:nvPr/>
        </p:nvSpPr>
        <p:spPr>
          <a:xfrm>
            <a:off x="4670450" y="3602736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2"/>
          <p:cNvSpPr txBox="1"/>
          <p:nvPr/>
        </p:nvSpPr>
        <p:spPr>
          <a:xfrm>
            <a:off x="4825898" y="3602736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매일 자가문진 축적</a:t>
            </a:r>
            <a:endParaRPr/>
          </a:p>
        </p:txBody>
      </p:sp>
      <p:sp>
        <p:nvSpPr>
          <p:cNvPr id="860" name="Google Shape;860;p22"/>
          <p:cNvSpPr/>
          <p:nvPr/>
        </p:nvSpPr>
        <p:spPr>
          <a:xfrm>
            <a:off x="4670450" y="4370832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2"/>
          <p:cNvSpPr txBox="1"/>
          <p:nvPr/>
        </p:nvSpPr>
        <p:spPr>
          <a:xfrm>
            <a:off x="4825898" y="4370832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코치 피드백으로 임계값 조정</a:t>
            </a:r>
            <a:endParaRPr/>
          </a:p>
        </p:txBody>
      </p:sp>
      <p:sp>
        <p:nvSpPr>
          <p:cNvPr id="862" name="Google Shape;862;p22"/>
          <p:cNvSpPr/>
          <p:nvPr/>
        </p:nvSpPr>
        <p:spPr>
          <a:xfrm>
            <a:off x="4670450" y="5138928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8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2"/>
          <p:cNvSpPr txBox="1"/>
          <p:nvPr/>
        </p:nvSpPr>
        <p:spPr>
          <a:xfrm>
            <a:off x="4825898" y="5138928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출결·과제·LMS·Discord·개입 결합</a:t>
            </a:r>
            <a:endParaRPr/>
          </a:p>
        </p:txBody>
      </p:sp>
      <p:sp>
        <p:nvSpPr>
          <p:cNvPr id="864" name="Google Shape;864;p22"/>
          <p:cNvSpPr txBox="1"/>
          <p:nvPr/>
        </p:nvSpPr>
        <p:spPr>
          <a:xfrm>
            <a:off x="7758988" y="2834640"/>
            <a:ext cx="310896" cy="3200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65" name="Google Shape;865;p22"/>
          <p:cNvSpPr/>
          <p:nvPr/>
        </p:nvSpPr>
        <p:spPr>
          <a:xfrm>
            <a:off x="8051596" y="2057400"/>
            <a:ext cx="3362858" cy="3977639"/>
          </a:xfrm>
          <a:prstGeom prst="roundRect">
            <a:avLst>
              <a:gd fmla="val 5438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2"/>
          <p:cNvSpPr/>
          <p:nvPr/>
        </p:nvSpPr>
        <p:spPr>
          <a:xfrm>
            <a:off x="8051596" y="2057400"/>
            <a:ext cx="3362858" cy="548640"/>
          </a:xfrm>
          <a:prstGeom prst="rect">
            <a:avLst/>
          </a:prstGeom>
          <a:solidFill>
            <a:srgbClr val="15C4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2"/>
          <p:cNvSpPr txBox="1"/>
          <p:nvPr/>
        </p:nvSpPr>
        <p:spPr>
          <a:xfrm>
            <a:off x="8051596" y="2057400"/>
            <a:ext cx="33628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고도화 결과</a:t>
            </a:r>
            <a:endParaRPr/>
          </a:p>
        </p:txBody>
      </p:sp>
      <p:sp>
        <p:nvSpPr>
          <p:cNvPr id="868" name="Google Shape;868;p22"/>
          <p:cNvSpPr/>
          <p:nvPr/>
        </p:nvSpPr>
        <p:spPr>
          <a:xfrm>
            <a:off x="8307628" y="2834640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2"/>
          <p:cNvSpPr txBox="1"/>
          <p:nvPr/>
        </p:nvSpPr>
        <p:spPr>
          <a:xfrm>
            <a:off x="8463076" y="2834640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관심학생 탐지</a:t>
            </a:r>
            <a:endParaRPr/>
          </a:p>
        </p:txBody>
      </p:sp>
      <p:sp>
        <p:nvSpPr>
          <p:cNvPr id="870" name="Google Shape;870;p22"/>
          <p:cNvSpPr/>
          <p:nvPr/>
        </p:nvSpPr>
        <p:spPr>
          <a:xfrm>
            <a:off x="8307628" y="3602736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2"/>
          <p:cNvSpPr txBox="1"/>
          <p:nvPr/>
        </p:nvSpPr>
        <p:spPr>
          <a:xfrm>
            <a:off x="8463076" y="3602736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개인별 상태 추이</a:t>
            </a:r>
            <a:endParaRPr/>
          </a:p>
        </p:txBody>
      </p:sp>
      <p:sp>
        <p:nvSpPr>
          <p:cNvPr id="872" name="Google Shape;872;p22"/>
          <p:cNvSpPr/>
          <p:nvPr/>
        </p:nvSpPr>
        <p:spPr>
          <a:xfrm>
            <a:off x="8307628" y="4370832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2"/>
          <p:cNvSpPr txBox="1"/>
          <p:nvPr/>
        </p:nvSpPr>
        <p:spPr>
          <a:xfrm>
            <a:off x="8463076" y="4370832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이상규모 맞춤 우선순위</a:t>
            </a:r>
            <a:endParaRPr/>
          </a:p>
        </p:txBody>
      </p:sp>
      <p:sp>
        <p:nvSpPr>
          <p:cNvPr id="874" name="Google Shape;874;p22"/>
          <p:cNvSpPr/>
          <p:nvPr/>
        </p:nvSpPr>
        <p:spPr>
          <a:xfrm>
            <a:off x="8307628" y="5138928"/>
            <a:ext cx="2850794" cy="658368"/>
          </a:xfrm>
          <a:prstGeom prst="roundRect">
            <a:avLst>
              <a:gd fmla="val 18055" name="adj"/>
            </a:avLst>
          </a:prstGeom>
          <a:solidFill>
            <a:srgbClr val="E4F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2"/>
          <p:cNvSpPr txBox="1"/>
          <p:nvPr/>
        </p:nvSpPr>
        <p:spPr>
          <a:xfrm>
            <a:off x="8463076" y="5138928"/>
            <a:ext cx="253989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엘리스 전용 모델</a:t>
            </a:r>
            <a:endParaRPr/>
          </a:p>
        </p:txBody>
      </p:sp>
      <p:sp>
        <p:nvSpPr>
          <p:cNvPr id="876" name="Google Shape;876;p22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3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16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3"/>
          <p:cNvSpPr/>
          <p:nvPr/>
        </p:nvSpPr>
        <p:spPr>
          <a:xfrm>
            <a:off x="9875520" y="-2194560"/>
            <a:ext cx="5669280" cy="5669280"/>
          </a:xfrm>
          <a:prstGeom prst="ellipse">
            <a:avLst/>
          </a:prstGeom>
          <a:solidFill>
            <a:srgbClr val="1422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3"/>
          <p:cNvSpPr txBox="1"/>
          <p:nvPr/>
        </p:nvSpPr>
        <p:spPr>
          <a:xfrm>
            <a:off x="777240" y="23317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A·B·C</a:t>
            </a:r>
            <a:endParaRPr/>
          </a:p>
        </p:txBody>
      </p:sp>
      <p:sp>
        <p:nvSpPr>
          <p:cNvPr id="884" name="Google Shape;884;p23"/>
          <p:cNvSpPr/>
          <p:nvPr/>
        </p:nvSpPr>
        <p:spPr>
          <a:xfrm>
            <a:off x="777240" y="2971800"/>
            <a:ext cx="914400" cy="109728"/>
          </a:xfrm>
          <a:prstGeom prst="roundRect">
            <a:avLst>
              <a:gd fmla="val 50000" name="adj"/>
            </a:avLst>
          </a:prstGeom>
          <a:solidFill>
            <a:srgbClr val="8B95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3"/>
          <p:cNvSpPr txBox="1"/>
          <p:nvPr/>
        </p:nvSpPr>
        <p:spPr>
          <a:xfrm>
            <a:off x="777240" y="324612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부록 APPENDIX</a:t>
            </a:r>
            <a:endParaRPr/>
          </a:p>
        </p:txBody>
      </p:sp>
      <p:sp>
        <p:nvSpPr>
          <p:cNvPr id="886" name="Google Shape;886;p23"/>
          <p:cNvSpPr txBox="1"/>
          <p:nvPr/>
        </p:nvSpPr>
        <p:spPr>
          <a:xfrm>
            <a:off x="777240" y="44348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FB9C6"/>
                </a:solidFill>
                <a:latin typeface="Arial"/>
                <a:ea typeface="Arial"/>
                <a:cs typeface="Arial"/>
                <a:sym typeface="Arial"/>
              </a:rPr>
              <a:t>전체 지표표 · 변수중요도 · 누수감사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4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4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APPENDIX A</a:t>
            </a:r>
            <a:endParaRPr/>
          </a:p>
        </p:txBody>
      </p:sp>
      <p:sp>
        <p:nvSpPr>
          <p:cNvPr id="893" name="Google Shape;893;p24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12종 전체 지표</a:t>
            </a:r>
            <a:endParaRPr/>
          </a:p>
        </p:txBody>
      </p:sp>
      <p:graphicFrame>
        <p:nvGraphicFramePr>
          <p:cNvPr id="894" name="Google Shape;894;p24"/>
          <p:cNvGraphicFramePr/>
          <p:nvPr/>
        </p:nvGraphicFramePr>
        <p:xfrm>
          <a:off x="7772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{3D413E08-6C14-4CC6-983C-5C12EF847440}</a:tableStyleId>
              </a:tblPr>
              <a:tblGrid>
                <a:gridCol w="2743200"/>
                <a:gridCol w="1005850"/>
                <a:gridCol w="1051550"/>
                <a:gridCol w="914400"/>
                <a:gridCol w="914400"/>
                <a:gridCol w="1234450"/>
                <a:gridCol w="1234450"/>
                <a:gridCol w="12344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계열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Bal.Acc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학습s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예측s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재현:관찰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재현:우량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재현:위험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191F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hist_gradient_boosting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부스팅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0.9446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gradient_boosting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부스팅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0.9412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93.1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부스팅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0.9399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93.9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93.5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부스팅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0.9340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95.7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93.2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91.2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random_forest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배깅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0.9308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95.8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93.8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89.6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decision_tree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트리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0.9291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0.013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94.2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91.9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92.6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mlp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신경망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0.9155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1.40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xgboost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부스팅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0.9109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1.10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97.0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88.6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87.6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logistic_regression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선형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0.9049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82.5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95.7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93.3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extra_trees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배깅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0.8948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0.065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89.3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91.8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gaussian_nb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확률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0.8750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72.8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94.9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knn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인스턴스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0.7184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0.07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0.681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99.3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63.4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D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52.8</a:t>
                      </a:r>
                      <a:endParaRPr/>
                    </a:p>
                  </a:txBody>
                  <a:tcPr marT="27425" marB="27425" marR="91450" marL="1097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895" name="Google Shape;895;p24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5"/>
          <p:cNvSpPr/>
          <p:nvPr/>
        </p:nvSpPr>
        <p:spPr>
          <a:xfrm>
            <a:off x="777240" y="475488"/>
            <a:ext cx="128016" cy="310896"/>
          </a:xfrm>
          <a:prstGeom prst="roundRect">
            <a:avLst>
              <a:gd fmla="val 50000" name="adj"/>
            </a:avLst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5"/>
          <p:cNvSpPr txBox="1"/>
          <p:nvPr/>
        </p:nvSpPr>
        <p:spPr>
          <a:xfrm>
            <a:off x="996695" y="457200"/>
            <a:ext cx="1041775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APPENDIX B · C</a:t>
            </a:r>
            <a:endParaRPr/>
          </a:p>
        </p:txBody>
      </p:sp>
      <p:sp>
        <p:nvSpPr>
          <p:cNvPr id="902" name="Google Shape;902;p25"/>
          <p:cNvSpPr txBox="1"/>
          <p:nvPr/>
        </p:nvSpPr>
        <p:spPr>
          <a:xfrm>
            <a:off x="777240" y="841248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변수 중요도 · 하이퍼파라미터 · 누수 감사</a:t>
            </a:r>
            <a:endParaRPr/>
          </a:p>
        </p:txBody>
      </p:sp>
      <p:sp>
        <p:nvSpPr>
          <p:cNvPr id="903" name="Google Shape;903;p25"/>
          <p:cNvSpPr/>
          <p:nvPr/>
        </p:nvSpPr>
        <p:spPr>
          <a:xfrm>
            <a:off x="777240" y="1554480"/>
            <a:ext cx="6126480" cy="4480560"/>
          </a:xfrm>
          <a:prstGeom prst="roundRect">
            <a:avLst>
              <a:gd fmla="val 4489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5"/>
          <p:cNvSpPr txBox="1"/>
          <p:nvPr/>
        </p:nvSpPr>
        <p:spPr>
          <a:xfrm>
            <a:off x="1143000" y="1810512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V5 HGB-35 순열중요도 Top 10</a:t>
            </a:r>
            <a:endParaRPr/>
          </a:p>
        </p:txBody>
      </p:sp>
      <p:pic>
        <p:nvPicPr>
          <p:cNvPr descr="importance.png" id="905" name="Google Shape;9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286000"/>
            <a:ext cx="5577840" cy="3131242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25"/>
          <p:cNvSpPr txBox="1"/>
          <p:nvPr/>
        </p:nvSpPr>
        <p:spPr>
          <a:xfrm>
            <a:off x="1143000" y="553212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※ 스트레스·활동수준이 압도적, 수분섭취는 음(-)의 중요도로 사실상 무의미(EDA와 일치).</a:t>
            </a:r>
            <a:endParaRPr/>
          </a:p>
        </p:txBody>
      </p:sp>
      <p:sp>
        <p:nvSpPr>
          <p:cNvPr id="907" name="Google Shape;907;p25"/>
          <p:cNvSpPr txBox="1"/>
          <p:nvPr/>
        </p:nvSpPr>
        <p:spPr>
          <a:xfrm>
            <a:off x="7635240" y="6336792"/>
            <a:ext cx="34134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id 제외 · 폴드-로컬 인코딩으로 라벨 누수 차단 (5/5 폴드 우세)</a:t>
            </a:r>
            <a:endParaRPr/>
          </a:p>
        </p:txBody>
      </p:sp>
      <p:sp>
        <p:nvSpPr>
          <p:cNvPr id="908" name="Google Shape;908;p25"/>
          <p:cNvSpPr txBox="1"/>
          <p:nvPr/>
        </p:nvSpPr>
        <p:spPr>
          <a:xfrm>
            <a:off x="11215053" y="6419088"/>
            <a:ext cx="428002" cy="16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r>
              <a:rPr b="0" i="0" lang="en-US" sz="10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  /  26</a:t>
            </a:r>
            <a:endParaRPr b="0" i="0" sz="1000" u="none" cap="none" strike="noStrike">
              <a:solidFill>
                <a:srgbClr val="B0B8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7269480" y="1554480"/>
            <a:ext cx="4144975" cy="2331720"/>
          </a:xfrm>
          <a:prstGeom prst="roundRect">
            <a:avLst>
              <a:gd fmla="val 8627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5"/>
          <p:cNvSpPr txBox="1"/>
          <p:nvPr/>
        </p:nvSpPr>
        <p:spPr>
          <a:xfrm>
            <a:off x="7635240" y="1712817"/>
            <a:ext cx="34134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최종 하이퍼파라미터</a:t>
            </a:r>
            <a:endParaRPr b="1" i="0" sz="13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635240" y="2061735"/>
            <a:ext cx="3637801" cy="515427"/>
            <a:chOff x="7635240" y="1979439"/>
            <a:chExt cx="3637801" cy="515427"/>
          </a:xfrm>
        </p:grpSpPr>
        <p:sp>
          <p:nvSpPr>
            <p:cNvPr id="912" name="Google Shape;912;p25"/>
            <p:cNvSpPr txBox="1"/>
            <p:nvPr/>
          </p:nvSpPr>
          <p:spPr>
            <a:xfrm>
              <a:off x="7635240" y="1979439"/>
              <a:ext cx="1828800" cy="515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base_models</a:t>
              </a:r>
              <a:endParaRPr b="1" i="0" sz="10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5"/>
            <p:cNvSpPr txBox="1"/>
            <p:nvPr/>
          </p:nvSpPr>
          <p:spPr>
            <a:xfrm>
              <a:off x="8819069" y="1979439"/>
              <a:ext cx="2453972" cy="515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3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realmlp · hgb_original · hgb_recovery · lgbm35 · hgb35_freq</a:t>
              </a:r>
              <a:endParaRPr/>
            </a:p>
          </p:txBody>
        </p:sp>
      </p:grpSp>
      <p:grpSp>
        <p:nvGrpSpPr>
          <p:cNvPr id="914" name="Google Shape;914;p25"/>
          <p:cNvGrpSpPr/>
          <p:nvPr/>
        </p:nvGrpSpPr>
        <p:grpSpPr>
          <a:xfrm>
            <a:off x="7635240" y="2532888"/>
            <a:ext cx="3637829" cy="320100"/>
            <a:chOff x="7635240" y="2578608"/>
            <a:chExt cx="3637829" cy="320100"/>
          </a:xfrm>
        </p:grpSpPr>
        <p:sp>
          <p:nvSpPr>
            <p:cNvPr id="915" name="Google Shape;915;p25"/>
            <p:cNvSpPr txBox="1"/>
            <p:nvPr/>
          </p:nvSpPr>
          <p:spPr>
            <a:xfrm>
              <a:off x="7635240" y="2578608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meta_model</a:t>
              </a:r>
              <a:endParaRPr b="1" i="0" sz="10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5"/>
            <p:cNvSpPr txBox="1"/>
            <p:nvPr/>
          </p:nvSpPr>
          <p:spPr>
            <a:xfrm>
              <a:off x="8819069" y="2578608"/>
              <a:ext cx="2454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3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LogisticRegression(class_weight='balanced')</a:t>
              </a:r>
              <a:endParaRPr/>
            </a:p>
          </p:txBody>
        </p:sp>
      </p:grpSp>
      <p:grpSp>
        <p:nvGrpSpPr>
          <p:cNvPr id="917" name="Google Shape;917;p25"/>
          <p:cNvGrpSpPr/>
          <p:nvPr/>
        </p:nvGrpSpPr>
        <p:grpSpPr>
          <a:xfrm>
            <a:off x="7635240" y="2889503"/>
            <a:ext cx="3637801" cy="320040"/>
            <a:chOff x="7635240" y="2889503"/>
            <a:chExt cx="3637801" cy="320040"/>
          </a:xfrm>
        </p:grpSpPr>
        <p:sp>
          <p:nvSpPr>
            <p:cNvPr id="918" name="Google Shape;918;p25"/>
            <p:cNvSpPr txBox="1"/>
            <p:nvPr/>
          </p:nvSpPr>
          <p:spPr>
            <a:xfrm>
              <a:off x="7635240" y="2889503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base / meta folds</a:t>
              </a:r>
              <a:endParaRPr/>
            </a:p>
          </p:txBody>
        </p:sp>
        <p:sp>
          <p:nvSpPr>
            <p:cNvPr id="919" name="Google Shape;919;p25"/>
            <p:cNvSpPr txBox="1"/>
            <p:nvPr/>
          </p:nvSpPr>
          <p:spPr>
            <a:xfrm>
              <a:off x="8819069" y="2889503"/>
              <a:ext cx="2453972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3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7 / 5</a:t>
              </a:r>
              <a:endParaRPr/>
            </a:p>
          </p:txBody>
        </p:sp>
      </p:grpSp>
      <p:grpSp>
        <p:nvGrpSpPr>
          <p:cNvPr id="920" name="Google Shape;920;p25"/>
          <p:cNvGrpSpPr/>
          <p:nvPr/>
        </p:nvGrpSpPr>
        <p:grpSpPr>
          <a:xfrm>
            <a:off x="7635240" y="3200399"/>
            <a:ext cx="3637801" cy="320040"/>
            <a:chOff x="7635240" y="3200399"/>
            <a:chExt cx="3637801" cy="320040"/>
          </a:xfrm>
        </p:grpSpPr>
        <p:sp>
          <p:nvSpPr>
            <p:cNvPr id="921" name="Google Shape;921;p25"/>
            <p:cNvSpPr txBox="1"/>
            <p:nvPr/>
          </p:nvSpPr>
          <p:spPr>
            <a:xfrm>
              <a:off x="7635240" y="3200399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meta_seed</a:t>
              </a:r>
              <a:endParaRPr b="1" i="0" sz="10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5"/>
            <p:cNvSpPr txBox="1"/>
            <p:nvPr/>
          </p:nvSpPr>
          <p:spPr>
            <a:xfrm>
              <a:off x="8819069" y="3200399"/>
              <a:ext cx="2453972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3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314159</a:t>
              </a:r>
              <a:endParaRPr/>
            </a:p>
          </p:txBody>
        </p:sp>
      </p:grpSp>
      <p:grpSp>
        <p:nvGrpSpPr>
          <p:cNvPr id="923" name="Google Shape;923;p25"/>
          <p:cNvGrpSpPr/>
          <p:nvPr/>
        </p:nvGrpSpPr>
        <p:grpSpPr>
          <a:xfrm>
            <a:off x="7635240" y="3474719"/>
            <a:ext cx="3637801" cy="320040"/>
            <a:chOff x="7635240" y="3511295"/>
            <a:chExt cx="3637801" cy="320040"/>
          </a:xfrm>
        </p:grpSpPr>
        <p:sp>
          <p:nvSpPr>
            <p:cNvPr id="924" name="Google Shape;924;p25"/>
            <p:cNvSpPr txBox="1"/>
            <p:nvPr/>
          </p:nvSpPr>
          <p:spPr>
            <a:xfrm>
              <a:off x="7635240" y="3511295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3182F6"/>
                  </a:solidFill>
                  <a:latin typeface="Arial"/>
                  <a:ea typeface="Arial"/>
                  <a:cs typeface="Arial"/>
                  <a:sym typeface="Arial"/>
                </a:rPr>
                <a:t>selected_output</a:t>
              </a:r>
              <a:endParaRPr b="1" i="0" sz="105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5"/>
            <p:cNvSpPr txBox="1"/>
            <p:nvPr/>
          </p:nvSpPr>
          <p:spPr>
            <a:xfrm>
              <a:off x="8819069" y="3511295"/>
              <a:ext cx="2453972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3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stack</a:t>
              </a:r>
              <a:endParaRPr/>
            </a:p>
          </p:txBody>
        </p:sp>
      </p:grpSp>
      <p:sp>
        <p:nvSpPr>
          <p:cNvPr id="926" name="Google Shape;926;p25"/>
          <p:cNvSpPr/>
          <p:nvPr/>
        </p:nvSpPr>
        <p:spPr>
          <a:xfrm>
            <a:off x="7269480" y="4069080"/>
            <a:ext cx="4144975" cy="1965960"/>
          </a:xfrm>
          <a:prstGeom prst="roundRect">
            <a:avLst>
              <a:gd fmla="val 10232" name="adj"/>
            </a:avLst>
          </a:prstGeom>
          <a:solidFill>
            <a:srgbClr val="FFFFFF"/>
          </a:solidFill>
          <a:ln>
            <a:noFill/>
          </a:ln>
          <a:effectLst>
            <a:outerShdw blurRad="91440" rotWithShape="0" dir="5400000" dist="41148">
              <a:srgbClr val="1B2B4B">
                <a:alpha val="1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5"/>
          <p:cNvSpPr txBox="1"/>
          <p:nvPr/>
        </p:nvSpPr>
        <p:spPr>
          <a:xfrm>
            <a:off x="7635240" y="4215384"/>
            <a:ext cx="34134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rPr>
              <a:t>누수 감사 · 앙상블 비교</a:t>
            </a:r>
            <a:endParaRPr b="1" i="0" sz="1300" u="none" cap="none" strike="noStrike">
              <a:solidFill>
                <a:srgbClr val="19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8" name="Google Shape;928;p25"/>
          <p:cNvGrpSpPr/>
          <p:nvPr/>
        </p:nvGrpSpPr>
        <p:grpSpPr>
          <a:xfrm>
            <a:off x="7635240" y="4471416"/>
            <a:ext cx="3413455" cy="320040"/>
            <a:chOff x="7635240" y="4425696"/>
            <a:chExt cx="3413455" cy="320040"/>
          </a:xfrm>
        </p:grpSpPr>
        <p:sp>
          <p:nvSpPr>
            <p:cNvPr id="929" name="Google Shape;929;p25"/>
            <p:cNvSpPr txBox="1"/>
            <p:nvPr/>
          </p:nvSpPr>
          <p:spPr>
            <a:xfrm>
              <a:off x="7635240" y="4425696"/>
              <a:ext cx="26819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원본 13변수 (HGB, 7-fold)</a:t>
              </a:r>
              <a:endParaRPr/>
            </a:p>
          </p:txBody>
        </p:sp>
        <p:sp>
          <p:nvSpPr>
            <p:cNvPr id="930" name="Google Shape;930;p25"/>
            <p:cNvSpPr txBox="1"/>
            <p:nvPr/>
          </p:nvSpPr>
          <p:spPr>
            <a:xfrm>
              <a:off x="10042855" y="4425696"/>
              <a:ext cx="10058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0.94960</a:t>
              </a:r>
              <a:endParaRPr/>
            </a:p>
          </p:txBody>
        </p:sp>
      </p:grpSp>
      <p:grpSp>
        <p:nvGrpSpPr>
          <p:cNvPr id="931" name="Google Shape;931;p25"/>
          <p:cNvGrpSpPr/>
          <p:nvPr/>
        </p:nvGrpSpPr>
        <p:grpSpPr>
          <a:xfrm>
            <a:off x="7635240" y="4815840"/>
            <a:ext cx="3413455" cy="320040"/>
            <a:chOff x="7635240" y="4809744"/>
            <a:chExt cx="3413455" cy="320040"/>
          </a:xfrm>
        </p:grpSpPr>
        <p:sp>
          <p:nvSpPr>
            <p:cNvPr id="932" name="Google Shape;932;p25"/>
            <p:cNvSpPr txBox="1"/>
            <p:nvPr/>
          </p:nvSpPr>
          <p:spPr>
            <a:xfrm>
              <a:off x="7635240" y="4809744"/>
              <a:ext cx="26819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+파생 → 35변수 (동일 분할)</a:t>
              </a:r>
              <a:endParaRPr/>
            </a:p>
          </p:txBody>
        </p:sp>
        <p:sp>
          <p:nvSpPr>
            <p:cNvPr id="933" name="Google Shape;933;p25"/>
            <p:cNvSpPr txBox="1"/>
            <p:nvPr/>
          </p:nvSpPr>
          <p:spPr>
            <a:xfrm>
              <a:off x="10042855" y="4809744"/>
              <a:ext cx="10058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0.94989</a:t>
              </a:r>
              <a:endParaRPr/>
            </a:p>
          </p:txBody>
        </p:sp>
      </p:grpSp>
      <p:grpSp>
        <p:nvGrpSpPr>
          <p:cNvPr id="934" name="Google Shape;934;p25"/>
          <p:cNvGrpSpPr/>
          <p:nvPr/>
        </p:nvGrpSpPr>
        <p:grpSpPr>
          <a:xfrm>
            <a:off x="7635240" y="5160264"/>
            <a:ext cx="3413455" cy="320040"/>
            <a:chOff x="7635240" y="5193792"/>
            <a:chExt cx="3413455" cy="320040"/>
          </a:xfrm>
        </p:grpSpPr>
        <p:sp>
          <p:nvSpPr>
            <p:cNvPr id="935" name="Google Shape;935;p25"/>
            <p:cNvSpPr txBox="1"/>
            <p:nvPr/>
          </p:nvSpPr>
          <p:spPr>
            <a:xfrm>
              <a:off x="7635240" y="5193792"/>
              <a:ext cx="26819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최고 단일: RealMLP</a:t>
              </a:r>
              <a:endParaRPr b="0" i="0" sz="1100" u="none" cap="none" strike="noStrike">
                <a:solidFill>
                  <a:srgbClr val="333D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5"/>
            <p:cNvSpPr txBox="1"/>
            <p:nvPr/>
          </p:nvSpPr>
          <p:spPr>
            <a:xfrm>
              <a:off x="10042855" y="5193792"/>
              <a:ext cx="10058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33D4B"/>
                  </a:solidFill>
                  <a:latin typeface="Arial"/>
                  <a:ea typeface="Arial"/>
                  <a:cs typeface="Arial"/>
                  <a:sym typeface="Arial"/>
                </a:rPr>
                <a:t>0.95061</a:t>
              </a:r>
              <a:endParaRPr/>
            </a:p>
          </p:txBody>
        </p:sp>
      </p:grpSp>
      <p:grpSp>
        <p:nvGrpSpPr>
          <p:cNvPr id="937" name="Google Shape;937;p25"/>
          <p:cNvGrpSpPr/>
          <p:nvPr/>
        </p:nvGrpSpPr>
        <p:grpSpPr>
          <a:xfrm>
            <a:off x="7635240" y="5504688"/>
            <a:ext cx="3413455" cy="320040"/>
            <a:chOff x="7635240" y="5577840"/>
            <a:chExt cx="3413455" cy="320040"/>
          </a:xfrm>
        </p:grpSpPr>
        <p:sp>
          <p:nvSpPr>
            <p:cNvPr id="938" name="Google Shape;938;p25"/>
            <p:cNvSpPr txBox="1"/>
            <p:nvPr/>
          </p:nvSpPr>
          <p:spPr>
            <a:xfrm>
              <a:off x="7635240" y="5648797"/>
              <a:ext cx="2681935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91F28"/>
                  </a:solidFill>
                  <a:latin typeface="Arial"/>
                  <a:ea typeface="Arial"/>
                  <a:cs typeface="Arial"/>
                  <a:sym typeface="Arial"/>
                </a:rPr>
                <a:t>선택: V6 5-base 스태킹</a:t>
              </a:r>
              <a:endParaRPr b="1" i="0" sz="1100" u="none" cap="none" strike="noStrike">
                <a:solidFill>
                  <a:srgbClr val="191F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5"/>
            <p:cNvSpPr txBox="1"/>
            <p:nvPr/>
          </p:nvSpPr>
          <p:spPr>
            <a:xfrm>
              <a:off x="10042855" y="5577840"/>
              <a:ext cx="10058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5C47E"/>
                  </a:solidFill>
                  <a:latin typeface="Arial"/>
                  <a:ea typeface="Arial"/>
                  <a:cs typeface="Arial"/>
                  <a:sym typeface="Arial"/>
                </a:rPr>
                <a:t>0.95073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26"/>
          <p:cNvSpPr/>
          <p:nvPr/>
        </p:nvSpPr>
        <p:spPr>
          <a:xfrm>
            <a:off x="-1828800" y="-2011680"/>
            <a:ext cx="5120640" cy="5120640"/>
          </a:xfrm>
          <a:prstGeom prst="ellipse">
            <a:avLst/>
          </a:prstGeom>
          <a:solidFill>
            <a:srgbClr val="16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6"/>
          <p:cNvSpPr/>
          <p:nvPr/>
        </p:nvSpPr>
        <p:spPr>
          <a:xfrm>
            <a:off x="9692640" y="3840480"/>
            <a:ext cx="5303520" cy="5303520"/>
          </a:xfrm>
          <a:prstGeom prst="ellipse">
            <a:avLst/>
          </a:prstGeom>
          <a:solidFill>
            <a:srgbClr val="1422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6"/>
          <p:cNvSpPr/>
          <p:nvPr/>
        </p:nvSpPr>
        <p:spPr>
          <a:xfrm>
            <a:off x="5943600" y="2194560"/>
            <a:ext cx="402336" cy="402336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/>
          </a:p>
        </p:txBody>
      </p:sp>
      <p:sp>
        <p:nvSpPr>
          <p:cNvPr id="948" name="Google Shape;948;p26"/>
          <p:cNvSpPr txBox="1"/>
          <p:nvPr/>
        </p:nvSpPr>
        <p:spPr>
          <a:xfrm>
            <a:off x="0" y="3794760"/>
            <a:ext cx="12191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D1DC"/>
                </a:solidFill>
                <a:latin typeface="Arial"/>
                <a:ea typeface="Arial"/>
                <a:cs typeface="Arial"/>
                <a:sym typeface="Arial"/>
              </a:rPr>
              <a:t>출결은 «무엇을 했는지» 기록합니다.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내일은행은 «어떤 상태인지» 매일 묻습니다.</a:t>
            </a:r>
            <a:endParaRPr/>
          </a:p>
        </p:txBody>
      </p:sp>
      <p:sp>
        <p:nvSpPr>
          <p:cNvPr id="949" name="Google Shape;949;p26"/>
          <p:cNvSpPr txBox="1"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182F6"/>
                </a:solidFill>
                <a:latin typeface="Arial"/>
                <a:ea typeface="Arial"/>
                <a:cs typeface="Arial"/>
                <a:sym typeface="Arial"/>
              </a:rPr>
              <a:t>내일은행</a:t>
            </a:r>
            <a:r>
              <a:rPr b="0" i="0" lang="en-US" sz="1400" u="none" cap="none" strike="noStrike">
                <a:solidFill>
                  <a:srgbClr val="8B95A1"/>
                </a:solidFill>
                <a:latin typeface="Arial"/>
                <a:ea typeface="Arial"/>
                <a:cs typeface="Arial"/>
                <a:sym typeface="Arial"/>
              </a:rPr>
              <a:t>  ·  Tomorrow Bank  ·  </a:t>
            </a:r>
            <a:r>
              <a:rPr b="1" i="0" lang="en-US" sz="1400" u="none" cap="none" strike="noStrike">
                <a:solidFill>
                  <a:srgbClr val="15C47E"/>
                </a:solidFill>
                <a:latin typeface="Arial"/>
                <a:ea typeface="Arial"/>
                <a:cs typeface="Arial"/>
                <a:sym typeface="Arial"/>
              </a:rPr>
              <a:t>Kaggle Public 0.95083</a:t>
            </a:r>
            <a:endParaRPr/>
          </a:p>
        </p:txBody>
      </p:sp>
      <p:sp>
        <p:nvSpPr>
          <p:cNvPr id="950" name="Google Shape;950;p26"/>
          <p:cNvSpPr txBox="1"/>
          <p:nvPr/>
        </p:nvSpPr>
        <p:spPr>
          <a:xfrm>
            <a:off x="0" y="5074920"/>
            <a:ext cx="12191695" cy="194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B8C1"/>
                </a:solidFill>
                <a:latin typeface="Arial"/>
                <a:ea typeface="Arial"/>
                <a:cs typeface="Arial"/>
                <a:sym typeface="Arial"/>
              </a:rPr>
              <a:t>YEARDREAM · TEAM 4 미니 프로젝트  |  2026. 07. 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/>
  <ep:Paragraphs>0</ep:Paragraphs>
  <ep:Slides>27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ep:HeadingPairs>
  <ep:TitlesOfParts>
    <vt:vector size="2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중진공29</dc:creator>
  <cp:lastModifiedBy>user</cp:lastModifiedBy>
  <dcterms:modified xsi:type="dcterms:W3CDTF">2026-07-15T05:21:14.808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